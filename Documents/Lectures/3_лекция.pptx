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266" r:id="rId4"/>
    <p:sldId id="268" r:id="rId5"/>
    <p:sldId id="299" r:id="rId6"/>
    <p:sldId id="302" r:id="rId7"/>
    <p:sldId id="303" r:id="rId8"/>
    <p:sldId id="304" r:id="rId9"/>
    <p:sldId id="309" r:id="rId10"/>
    <p:sldId id="310" r:id="rId11"/>
    <p:sldId id="311" r:id="rId12"/>
    <p:sldId id="313" r:id="rId13"/>
    <p:sldId id="315" r:id="rId14"/>
    <p:sldId id="31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45qVdxuRGOLxwbrc9dap12cW+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нстантин Некрасов" initials="КН" lastIdx="1" clrIdx="0">
    <p:extLst>
      <p:ext uri="{19B8F6BF-5375-455C-9EA6-DF929625EA0E}">
        <p15:presenceInfo xmlns:p15="http://schemas.microsoft.com/office/powerpoint/2012/main" userId="93128182c2385e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57" Type="http://customschemas.google.com/relationships/presentationmetadata" Target="meta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02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371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553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2130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7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188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8316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178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184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092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2">
  <p:cSld name="Титульный слайд 2">
    <p:bg>
      <p:bgPr>
        <a:gradFill>
          <a:gsLst>
            <a:gs pos="0">
              <a:srgbClr val="91E2FE"/>
            </a:gs>
            <a:gs pos="14000">
              <a:schemeClr val="accent2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2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3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" name="Google Shape;55;p46"/>
          <p:cNvGrpSpPr/>
          <p:nvPr/>
        </p:nvGrpSpPr>
        <p:grpSpPr>
          <a:xfrm>
            <a:off x="562856" y="710612"/>
            <a:ext cx="2522375" cy="1205115"/>
            <a:chOff x="562856" y="710612"/>
            <a:chExt cx="2522375" cy="1205115"/>
          </a:xfrm>
        </p:grpSpPr>
        <p:grpSp>
          <p:nvGrpSpPr>
            <p:cNvPr id="56" name="Google Shape;56;p46"/>
            <p:cNvGrpSpPr/>
            <p:nvPr/>
          </p:nvGrpSpPr>
          <p:grpSpPr>
            <a:xfrm>
              <a:off x="562856" y="710612"/>
              <a:ext cx="948024" cy="997597"/>
              <a:chOff x="562856" y="710612"/>
              <a:chExt cx="948024" cy="997597"/>
            </a:xfrm>
          </p:grpSpPr>
          <p:grpSp>
            <p:nvGrpSpPr>
              <p:cNvPr id="57" name="Google Shape;57;p46"/>
              <p:cNvGrpSpPr/>
              <p:nvPr/>
            </p:nvGrpSpPr>
            <p:grpSpPr>
              <a:xfrm>
                <a:off x="562856" y="985371"/>
                <a:ext cx="948024" cy="722838"/>
                <a:chOff x="562856" y="985371"/>
                <a:chExt cx="948024" cy="722838"/>
              </a:xfrm>
            </p:grpSpPr>
            <p:grpSp>
              <p:nvGrpSpPr>
                <p:cNvPr id="58" name="Google Shape;58;p46"/>
                <p:cNvGrpSpPr/>
                <p:nvPr/>
              </p:nvGrpSpPr>
              <p:grpSpPr>
                <a:xfrm>
                  <a:off x="562856" y="985371"/>
                  <a:ext cx="948024" cy="722838"/>
                  <a:chOff x="562856" y="985371"/>
                  <a:chExt cx="948024" cy="722838"/>
                </a:xfrm>
              </p:grpSpPr>
              <p:grpSp>
                <p:nvGrpSpPr>
                  <p:cNvPr id="59" name="Google Shape;59;p46"/>
                  <p:cNvGrpSpPr/>
                  <p:nvPr/>
                </p:nvGrpSpPr>
                <p:grpSpPr>
                  <a:xfrm>
                    <a:off x="714672" y="985371"/>
                    <a:ext cx="643294" cy="722838"/>
                    <a:chOff x="714672" y="985371"/>
                    <a:chExt cx="643294" cy="722838"/>
                  </a:xfrm>
                </p:grpSpPr>
                <p:sp>
                  <p:nvSpPr>
                    <p:cNvPr id="60" name="Google Shape;60;p46"/>
                    <p:cNvSpPr/>
                    <p:nvPr/>
                  </p:nvSpPr>
                  <p:spPr>
                    <a:xfrm>
                      <a:off x="1166997" y="1035802"/>
                      <a:ext cx="158790" cy="3066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0" h="306640" extrusionOk="0">
                          <a:moveTo>
                            <a:pt x="50419" y="269542"/>
                          </a:moveTo>
                          <a:cubicBezTo>
                            <a:pt x="98520" y="178536"/>
                            <a:pt x="136189" y="82892"/>
                            <a:pt x="158790" y="2898"/>
                          </a:cubicBezTo>
                          <a:cubicBezTo>
                            <a:pt x="150097" y="1739"/>
                            <a:pt x="141405" y="1159"/>
                            <a:pt x="132132" y="0"/>
                          </a:cubicBezTo>
                          <a:cubicBezTo>
                            <a:pt x="110110" y="75356"/>
                            <a:pt x="74759" y="166942"/>
                            <a:pt x="27238" y="257370"/>
                          </a:cubicBezTo>
                          <a:cubicBezTo>
                            <a:pt x="18545" y="274180"/>
                            <a:pt x="9272" y="290410"/>
                            <a:pt x="0" y="306641"/>
                          </a:cubicBezTo>
                          <a:cubicBezTo>
                            <a:pt x="12749" y="302583"/>
                            <a:pt x="25499" y="297946"/>
                            <a:pt x="38249" y="293309"/>
                          </a:cubicBezTo>
                          <a:cubicBezTo>
                            <a:pt x="41726" y="285193"/>
                            <a:pt x="45783" y="277078"/>
                            <a:pt x="50419" y="2695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1" name="Google Shape;61;p46"/>
                    <p:cNvSpPr/>
                    <p:nvPr/>
                  </p:nvSpPr>
                  <p:spPr>
                    <a:xfrm>
                      <a:off x="742204" y="1094927"/>
                      <a:ext cx="154733" cy="30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733" h="307800" extrusionOk="0">
                          <a:moveTo>
                            <a:pt x="137348" y="31881"/>
                          </a:moveTo>
                          <a:cubicBezTo>
                            <a:pt x="143143" y="20868"/>
                            <a:pt x="148938" y="10434"/>
                            <a:pt x="154734" y="0"/>
                          </a:cubicBezTo>
                          <a:cubicBezTo>
                            <a:pt x="141984" y="4058"/>
                            <a:pt x="129814" y="8115"/>
                            <a:pt x="117644" y="12173"/>
                          </a:cubicBezTo>
                          <a:cubicBezTo>
                            <a:pt x="116485" y="14492"/>
                            <a:pt x="114746" y="16810"/>
                            <a:pt x="113587" y="19708"/>
                          </a:cubicBezTo>
                          <a:cubicBezTo>
                            <a:pt x="60271" y="120569"/>
                            <a:pt x="22022" y="219112"/>
                            <a:pt x="0" y="306061"/>
                          </a:cubicBezTo>
                          <a:cubicBezTo>
                            <a:pt x="8693" y="306641"/>
                            <a:pt x="17386" y="307221"/>
                            <a:pt x="26658" y="307800"/>
                          </a:cubicBezTo>
                          <a:cubicBezTo>
                            <a:pt x="48101" y="226648"/>
                            <a:pt x="84031" y="132163"/>
                            <a:pt x="137348" y="318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2" name="Google Shape;62;p46"/>
                    <p:cNvGrpSpPr/>
                    <p:nvPr/>
                  </p:nvGrpSpPr>
                  <p:grpSpPr>
                    <a:xfrm>
                      <a:off x="714672" y="985371"/>
                      <a:ext cx="643294" cy="448657"/>
                      <a:chOff x="714672" y="985371"/>
                      <a:chExt cx="643294" cy="448657"/>
                    </a:xfrm>
                  </p:grpSpPr>
                  <p:sp>
                    <p:nvSpPr>
                      <p:cNvPr id="63" name="Google Shape;63;p46"/>
                      <p:cNvSpPr/>
                      <p:nvPr/>
                    </p:nvSpPr>
                    <p:spPr>
                      <a:xfrm>
                        <a:off x="816384" y="1253174"/>
                        <a:ext cx="323955" cy="17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955" h="175057" extrusionOk="0">
                            <a:moveTo>
                              <a:pt x="11591" y="0"/>
                            </a:moveTo>
                            <a:cubicBezTo>
                              <a:pt x="7534" y="9275"/>
                              <a:pt x="3477" y="18549"/>
                              <a:pt x="0" y="27824"/>
                            </a:cubicBezTo>
                            <a:cubicBezTo>
                              <a:pt x="38249" y="62024"/>
                              <a:pt x="85770" y="93905"/>
                              <a:pt x="140245" y="120570"/>
                            </a:cubicBezTo>
                            <a:cubicBezTo>
                              <a:pt x="196460" y="147814"/>
                              <a:pt x="253833" y="166363"/>
                              <a:pt x="307729" y="175058"/>
                            </a:cubicBezTo>
                            <a:cubicBezTo>
                              <a:pt x="313524" y="166943"/>
                              <a:pt x="318740" y="158248"/>
                              <a:pt x="323956" y="149553"/>
                            </a:cubicBezTo>
                            <a:cubicBezTo>
                              <a:pt x="269480" y="142597"/>
                              <a:pt x="209789" y="124048"/>
                              <a:pt x="151836" y="95644"/>
                            </a:cubicBezTo>
                            <a:cubicBezTo>
                              <a:pt x="97360" y="68980"/>
                              <a:pt x="49260" y="35359"/>
                              <a:pt x="11591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4" name="Google Shape;64;p46"/>
                      <p:cNvSpPr/>
                      <p:nvPr/>
                    </p:nvSpPr>
                    <p:spPr>
                      <a:xfrm>
                        <a:off x="714672" y="985371"/>
                        <a:ext cx="643294" cy="4486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3294" h="448657" extrusionOk="0">
                            <a:moveTo>
                              <a:pt x="596628" y="211576"/>
                            </a:moveTo>
                            <a:cubicBezTo>
                              <a:pt x="553163" y="153610"/>
                              <a:pt x="483620" y="99702"/>
                              <a:pt x="401907" y="60285"/>
                            </a:cubicBezTo>
                            <a:cubicBezTo>
                              <a:pt x="322512" y="21447"/>
                              <a:pt x="239639" y="0"/>
                              <a:pt x="168357" y="0"/>
                            </a:cubicBezTo>
                            <a:cubicBezTo>
                              <a:pt x="89542" y="0"/>
                              <a:pt x="33907" y="25505"/>
                              <a:pt x="10726" y="72458"/>
                            </a:cubicBezTo>
                            <a:cubicBezTo>
                              <a:pt x="-17671" y="130424"/>
                              <a:pt x="11885" y="206359"/>
                              <a:pt x="80849" y="275919"/>
                            </a:cubicBezTo>
                            <a:cubicBezTo>
                              <a:pt x="84905" y="266644"/>
                              <a:pt x="88383" y="256790"/>
                              <a:pt x="92439" y="247515"/>
                            </a:cubicBezTo>
                            <a:cubicBezTo>
                              <a:pt x="38543" y="189549"/>
                              <a:pt x="14203" y="128105"/>
                              <a:pt x="35066" y="84631"/>
                            </a:cubicBezTo>
                            <a:cubicBezTo>
                              <a:pt x="52452" y="48692"/>
                              <a:pt x="101132" y="27824"/>
                              <a:pt x="167778" y="27824"/>
                            </a:cubicBezTo>
                            <a:cubicBezTo>
                              <a:pt x="235003" y="27824"/>
                              <a:pt x="313819" y="48112"/>
                              <a:pt x="389157" y="85210"/>
                            </a:cubicBezTo>
                            <a:cubicBezTo>
                              <a:pt x="466814" y="123468"/>
                              <a:pt x="532300" y="173898"/>
                              <a:pt x="573447" y="228387"/>
                            </a:cubicBezTo>
                            <a:cubicBezTo>
                              <a:pt x="612275" y="279976"/>
                              <a:pt x="624445" y="328088"/>
                              <a:pt x="607059" y="364027"/>
                            </a:cubicBezTo>
                            <a:cubicBezTo>
                              <a:pt x="589673" y="399966"/>
                              <a:pt x="540993" y="420834"/>
                              <a:pt x="474348" y="420834"/>
                            </a:cubicBezTo>
                            <a:cubicBezTo>
                              <a:pt x="467973" y="420834"/>
                              <a:pt x="461018" y="420254"/>
                              <a:pt x="454644" y="420254"/>
                            </a:cubicBezTo>
                            <a:cubicBezTo>
                              <a:pt x="448848" y="428949"/>
                              <a:pt x="443633" y="438224"/>
                              <a:pt x="437837" y="446919"/>
                            </a:cubicBezTo>
                            <a:cubicBezTo>
                              <a:pt x="450008" y="448078"/>
                              <a:pt x="462177" y="448658"/>
                              <a:pt x="474348" y="448658"/>
                            </a:cubicBezTo>
                            <a:cubicBezTo>
                              <a:pt x="553163" y="448658"/>
                              <a:pt x="608798" y="423153"/>
                              <a:pt x="631979" y="376200"/>
                            </a:cubicBezTo>
                            <a:cubicBezTo>
                              <a:pt x="655160" y="330407"/>
                              <a:pt x="642410" y="272441"/>
                              <a:pt x="596628" y="2115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" name="Google Shape;65;p46"/>
                    <p:cNvSpPr/>
                    <p:nvPr/>
                  </p:nvSpPr>
                  <p:spPr>
                    <a:xfrm>
                      <a:off x="719403" y="1364470"/>
                      <a:ext cx="463821" cy="3437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3821" h="343739" extrusionOk="0">
                          <a:moveTo>
                            <a:pt x="425573" y="12753"/>
                          </a:moveTo>
                          <a:cubicBezTo>
                            <a:pt x="315462" y="191288"/>
                            <a:pt x="183330" y="317654"/>
                            <a:pt x="99878" y="317654"/>
                          </a:cubicBezTo>
                          <a:cubicBezTo>
                            <a:pt x="88867" y="317654"/>
                            <a:pt x="79015" y="315336"/>
                            <a:pt x="70323" y="310699"/>
                          </a:cubicBezTo>
                          <a:cubicBezTo>
                            <a:pt x="25119" y="286932"/>
                            <a:pt x="12949" y="194766"/>
                            <a:pt x="42505" y="64922"/>
                          </a:cubicBezTo>
                          <a:cubicBezTo>
                            <a:pt x="33233" y="64342"/>
                            <a:pt x="24540" y="63763"/>
                            <a:pt x="15847" y="63183"/>
                          </a:cubicBezTo>
                          <a:cubicBezTo>
                            <a:pt x="-14288" y="199403"/>
                            <a:pt x="-2118" y="302583"/>
                            <a:pt x="58152" y="333885"/>
                          </a:cubicBezTo>
                          <a:cubicBezTo>
                            <a:pt x="70323" y="340261"/>
                            <a:pt x="84811" y="343739"/>
                            <a:pt x="99878" y="343739"/>
                          </a:cubicBezTo>
                          <a:cubicBezTo>
                            <a:pt x="198978" y="343739"/>
                            <a:pt x="343859" y="205200"/>
                            <a:pt x="463821" y="0"/>
                          </a:cubicBezTo>
                          <a:cubicBezTo>
                            <a:pt x="451651" y="5217"/>
                            <a:pt x="438902" y="9275"/>
                            <a:pt x="425573" y="127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" name="Google Shape;66;p46"/>
                  <p:cNvGrpSpPr/>
                  <p:nvPr/>
                </p:nvGrpSpPr>
                <p:grpSpPr>
                  <a:xfrm>
                    <a:off x="562856" y="999863"/>
                    <a:ext cx="948024" cy="419094"/>
                    <a:chOff x="562856" y="999863"/>
                    <a:chExt cx="948024" cy="419094"/>
                  </a:xfrm>
                </p:grpSpPr>
                <p:sp>
                  <p:nvSpPr>
                    <p:cNvPr id="67" name="Google Shape;67;p46"/>
                    <p:cNvSpPr/>
                    <p:nvPr/>
                  </p:nvSpPr>
                  <p:spPr>
                    <a:xfrm>
                      <a:off x="1007048" y="1275781"/>
                      <a:ext cx="316421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21" h="115932" extrusionOk="0">
                          <a:moveTo>
                            <a:pt x="64328" y="84630"/>
                          </a:moveTo>
                          <a:cubicBezTo>
                            <a:pt x="42885" y="89848"/>
                            <a:pt x="21443" y="93905"/>
                            <a:pt x="0" y="97963"/>
                          </a:cubicBezTo>
                          <a:cubicBezTo>
                            <a:pt x="17386" y="104919"/>
                            <a:pt x="34192" y="110715"/>
                            <a:pt x="50998" y="115932"/>
                          </a:cubicBezTo>
                          <a:cubicBezTo>
                            <a:pt x="57373" y="114773"/>
                            <a:pt x="63748" y="113034"/>
                            <a:pt x="70123" y="111875"/>
                          </a:cubicBezTo>
                          <a:cubicBezTo>
                            <a:pt x="161108" y="91007"/>
                            <a:pt x="245719" y="61444"/>
                            <a:pt x="316422" y="26664"/>
                          </a:cubicBezTo>
                          <a:cubicBezTo>
                            <a:pt x="314683" y="17969"/>
                            <a:pt x="312365" y="9274"/>
                            <a:pt x="308888" y="0"/>
                          </a:cubicBezTo>
                          <a:cubicBezTo>
                            <a:pt x="239924" y="34200"/>
                            <a:pt x="155313" y="63763"/>
                            <a:pt x="64328" y="846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8" name="Google Shape;68;p46"/>
                    <p:cNvSpPr/>
                    <p:nvPr/>
                  </p:nvSpPr>
                  <p:spPr>
                    <a:xfrm>
                      <a:off x="738727" y="1033483"/>
                      <a:ext cx="300774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774" h="115932" extrusionOk="0">
                          <a:moveTo>
                            <a:pt x="0" y="88688"/>
                          </a:moveTo>
                          <a:cubicBezTo>
                            <a:pt x="1159" y="97383"/>
                            <a:pt x="3477" y="106658"/>
                            <a:pt x="6375" y="115932"/>
                          </a:cubicBezTo>
                          <a:cubicBezTo>
                            <a:pt x="73600" y="81153"/>
                            <a:pt x="160529" y="48692"/>
                            <a:pt x="263105" y="24925"/>
                          </a:cubicBezTo>
                          <a:cubicBezTo>
                            <a:pt x="275855" y="22027"/>
                            <a:pt x="288025" y="19129"/>
                            <a:pt x="300775" y="16810"/>
                          </a:cubicBezTo>
                          <a:cubicBezTo>
                            <a:pt x="282809" y="10434"/>
                            <a:pt x="265423" y="4637"/>
                            <a:pt x="248038" y="0"/>
                          </a:cubicBezTo>
                          <a:cubicBezTo>
                            <a:pt x="152995" y="23186"/>
                            <a:pt x="68384" y="53909"/>
                            <a:pt x="0" y="88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9" name="Google Shape;69;p46"/>
                    <p:cNvSpPr/>
                    <p:nvPr/>
                  </p:nvSpPr>
                  <p:spPr>
                    <a:xfrm>
                      <a:off x="562856" y="1136083"/>
                      <a:ext cx="442453" cy="282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2453" h="282874" extrusionOk="0">
                          <a:moveTo>
                            <a:pt x="393773" y="245776"/>
                          </a:moveTo>
                          <a:cubicBezTo>
                            <a:pt x="346252" y="252153"/>
                            <a:pt x="299890" y="255631"/>
                            <a:pt x="257005" y="255631"/>
                          </a:cubicBezTo>
                          <a:cubicBezTo>
                            <a:pt x="127191" y="255631"/>
                            <a:pt x="39682" y="225488"/>
                            <a:pt x="28671" y="176797"/>
                          </a:cubicBezTo>
                          <a:cubicBezTo>
                            <a:pt x="19399" y="135641"/>
                            <a:pt x="66920" y="79414"/>
                            <a:pt x="157906" y="27244"/>
                          </a:cubicBezTo>
                          <a:cubicBezTo>
                            <a:pt x="154428" y="17970"/>
                            <a:pt x="152110" y="9275"/>
                            <a:pt x="150372" y="0"/>
                          </a:cubicBezTo>
                          <a:cubicBezTo>
                            <a:pt x="47216" y="57966"/>
                            <a:pt x="-11896" y="124627"/>
                            <a:pt x="2013" y="182593"/>
                          </a:cubicBezTo>
                          <a:cubicBezTo>
                            <a:pt x="17080" y="246356"/>
                            <a:pt x="109805" y="282875"/>
                            <a:pt x="257584" y="282875"/>
                          </a:cubicBezTo>
                          <a:cubicBezTo>
                            <a:pt x="314957" y="282875"/>
                            <a:pt x="378126" y="277078"/>
                            <a:pt x="442453" y="266065"/>
                          </a:cubicBezTo>
                          <a:cubicBezTo>
                            <a:pt x="425647" y="260268"/>
                            <a:pt x="409420" y="253312"/>
                            <a:pt x="393773" y="24577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70" name="Google Shape;70;p46"/>
                    <p:cNvSpPr/>
                    <p:nvPr/>
                  </p:nvSpPr>
                  <p:spPr>
                    <a:xfrm>
                      <a:off x="1041240" y="999863"/>
                      <a:ext cx="469640" cy="288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640" h="288671" extrusionOk="0">
                          <a:moveTo>
                            <a:pt x="467678" y="100281"/>
                          </a:moveTo>
                          <a:cubicBezTo>
                            <a:pt x="453190" y="36519"/>
                            <a:pt x="359886" y="0"/>
                            <a:pt x="212107" y="0"/>
                          </a:cubicBezTo>
                          <a:cubicBezTo>
                            <a:pt x="146620" y="0"/>
                            <a:pt x="73600" y="7536"/>
                            <a:pt x="0" y="22027"/>
                          </a:cubicBezTo>
                          <a:cubicBezTo>
                            <a:pt x="16227" y="27824"/>
                            <a:pt x="32454" y="34200"/>
                            <a:pt x="48680" y="41156"/>
                          </a:cubicBezTo>
                          <a:cubicBezTo>
                            <a:pt x="105474" y="31881"/>
                            <a:pt x="161109" y="27244"/>
                            <a:pt x="212107" y="27244"/>
                          </a:cubicBezTo>
                          <a:cubicBezTo>
                            <a:pt x="341921" y="27244"/>
                            <a:pt x="429430" y="57386"/>
                            <a:pt x="440441" y="106078"/>
                          </a:cubicBezTo>
                          <a:cubicBezTo>
                            <a:pt x="449133" y="143176"/>
                            <a:pt x="412044" y="191868"/>
                            <a:pt x="339023" y="238820"/>
                          </a:cubicBezTo>
                          <a:cubicBezTo>
                            <a:pt x="326274" y="246936"/>
                            <a:pt x="312945" y="254471"/>
                            <a:pt x="299036" y="262007"/>
                          </a:cubicBezTo>
                          <a:cubicBezTo>
                            <a:pt x="302513" y="271281"/>
                            <a:pt x="305411" y="279976"/>
                            <a:pt x="307729" y="288671"/>
                          </a:cubicBezTo>
                          <a:cubicBezTo>
                            <a:pt x="323956" y="279976"/>
                            <a:pt x="339603" y="270702"/>
                            <a:pt x="354091" y="262007"/>
                          </a:cubicBezTo>
                          <a:cubicBezTo>
                            <a:pt x="439282" y="208098"/>
                            <a:pt x="479269" y="150132"/>
                            <a:pt x="467678" y="1002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71" name="Google Shape;71;p46"/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95" h="153030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72" name="Google Shape;72;p46"/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</p:grpSpPr>
            <p:sp>
              <p:nvSpPr>
                <p:cNvPr id="73" name="Google Shape;73;p46"/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63183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4" name="Google Shape;74;p46"/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88" h="307220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75" name="Google Shape;75;p46"/>
            <p:cNvGrpSpPr/>
            <p:nvPr/>
          </p:nvGrpSpPr>
          <p:grpSpPr>
            <a:xfrm>
              <a:off x="1207564" y="1490836"/>
              <a:ext cx="1816817" cy="424891"/>
              <a:chOff x="1207564" y="1490836"/>
              <a:chExt cx="1816817" cy="424891"/>
            </a:xfrm>
          </p:grpSpPr>
          <p:sp>
            <p:nvSpPr>
              <p:cNvPr id="76" name="Google Shape;76;p46"/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416679" h="42489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" name="Google Shape;77;p46"/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Google Shape;78;p46"/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9" name="Google Shape;79;p46"/>
            <p:cNvGrpSpPr/>
            <p:nvPr/>
          </p:nvGrpSpPr>
          <p:grpSpPr>
            <a:xfrm>
              <a:off x="2324313" y="1165066"/>
              <a:ext cx="760918" cy="184912"/>
              <a:chOff x="2324313" y="1165066"/>
              <a:chExt cx="760918" cy="184912"/>
            </a:xfrm>
          </p:grpSpPr>
          <p:sp>
            <p:nvSpPr>
              <p:cNvPr id="80" name="Google Shape;80;p46"/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3574" h="18491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46"/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5313" h="18491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46"/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/>
                <a:ahLst/>
                <a:cxnLst/>
                <a:rect l="l" t="t" r="r" b="b"/>
                <a:pathLst>
                  <a:path w="155892" h="184332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3" name="Google Shape;83;p46"/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86607" h="18491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84" name="Google Shape;84;p46"/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/>
              <a:ahLst/>
              <a:cxnLst/>
              <a:rect l="l" t="t" r="r" b="b"/>
              <a:pathLst>
                <a:path w="639218" h="423732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логотипом без коня (белая)">
  <p:cSld name="Шапка с логотипом без коня (белая)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4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4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4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59" name="Google Shape;159;p49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60" name="Google Shape;160;p49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61" name="Google Shape;161;p49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62" name="Google Shape;162;p49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63" name="Google Shape;163;p49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164" name="Google Shape;164;p49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65" name="Google Shape;165;p49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166" name="Google Shape;166;p49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167" name="Google Shape;167;p49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168" name="Google Shape;168;p49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169" name="Google Shape;169;p49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170" name="Google Shape;170;p49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171" name="Google Shape;171;p49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2" name="Google Shape;172;p49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3" name="Google Shape;173;p49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4" name="Google Shape;174;p49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175" name="Google Shape;175;p49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176" name="Google Shape;176;p49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177" name="Google Shape;177;p49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78" name="Google Shape;178;p49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179" name="Google Shape;179;p49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180" name="Google Shape;180;p49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49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2" name="Google Shape;182;p49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83" name="Google Shape;183;p49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184" name="Google Shape;184;p49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p49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49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49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8" name="Google Shape;188;p49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Шапка с логотипом без коня (белая)">
  <p:cSld name="1_Шапка с логотипом без коня (белая)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/>
          <p:nvPr/>
        </p:nvSpPr>
        <p:spPr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50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254938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5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95" name="Google Shape;195;p5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96" name="Google Shape;196;p5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97" name="Google Shape;197;p5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98" name="Google Shape;198;p5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99" name="Google Shape;199;p5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200" name="Google Shape;200;p5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1" name="Google Shape;201;p5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202" name="Google Shape;202;p5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203" name="Google Shape;203;p5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204" name="Google Shape;204;p5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205" name="Google Shape;205;p5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206" name="Google Shape;206;p5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207" name="Google Shape;207;p5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8" name="Google Shape;208;p5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9" name="Google Shape;209;p5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10" name="Google Shape;210;p5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211" name="Google Shape;211;p5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212" name="Google Shape;212;p5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213" name="Google Shape;213;p5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214" name="Google Shape;214;p5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215" name="Google Shape;215;p5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216" name="Google Shape;216;p5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7" name="Google Shape;217;p5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p5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p5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220" name="Google Shape;220;p5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p5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2" name="Google Shape;222;p5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3" name="Google Shape;223;p5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4" name="Google Shape;224;p5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4">
  <p:cSld name="Фото 4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69773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4" name="Google Shape;514;p5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5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6" name="Google Shape;516;p5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7" name="Google Shape;517;p59"/>
          <p:cNvSpPr>
            <a:spLocks noGrp="1"/>
          </p:cNvSpPr>
          <p:nvPr>
            <p:ph type="pic" idx="3"/>
          </p:nvPr>
        </p:nvSpPr>
        <p:spPr>
          <a:xfrm>
            <a:off x="8947150" y="1"/>
            <a:ext cx="3244850" cy="68531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9">
  <p:cSld name="Фото 9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2" name="Google Shape;642;p6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4" name="Google Shape;644;p6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5" name="Google Shape;645;p64"/>
          <p:cNvSpPr>
            <a:spLocks noGrp="1"/>
          </p:cNvSpPr>
          <p:nvPr>
            <p:ph type="pic" idx="3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64"/>
          <p:cNvSpPr>
            <a:spLocks noGrp="1"/>
          </p:cNvSpPr>
          <p:nvPr>
            <p:ph type="pic" idx="4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64"/>
          <p:cNvSpPr>
            <a:spLocks noGrp="1"/>
          </p:cNvSpPr>
          <p:nvPr>
            <p:ph type="pic" idx="5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64"/>
          <p:cNvSpPr>
            <a:spLocks noGrp="1"/>
          </p:cNvSpPr>
          <p:nvPr>
            <p:ph type="pic" idx="6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9" name="Google Shape;649;p64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650" name="Google Shape;650;p64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651" name="Google Shape;651;p64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652" name="Google Shape;652;p64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653" name="Google Shape;653;p64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654" name="Google Shape;654;p64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55" name="Google Shape;655;p64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56" name="Google Shape;656;p64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657" name="Google Shape;657;p64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58" name="Google Shape;658;p64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9" name="Google Shape;659;p64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0" name="Google Shape;660;p64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661" name="Google Shape;661;p64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2" name="Google Shape;662;p64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3" name="Google Shape;663;p64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4" name="Google Shape;664;p64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665" name="Google Shape;665;p64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666" name="Google Shape;666;p64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667" name="Google Shape;667;p64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8" name="Google Shape;668;p64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669" name="Google Shape;669;p64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670" name="Google Shape;670;p64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1" name="Google Shape;671;p64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2" name="Google Shape;672;p64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673" name="Google Shape;673;p64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674" name="Google Shape;674;p64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6" name="Google Shape;676;p64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7" name="Google Shape;677;p64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678" name="Google Shape;678;p64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2">
  <p:cSld name="Пустой слайд 2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3" name="Google Shape;883;p7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884" name="Google Shape;884;p7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885" name="Google Shape;885;p7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886" name="Google Shape;886;p7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887" name="Google Shape;887;p7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888" name="Google Shape;888;p7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89" name="Google Shape;889;p7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890" name="Google Shape;890;p7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891" name="Google Shape;891;p7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892" name="Google Shape;892;p7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893" name="Google Shape;893;p7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894" name="Google Shape;894;p7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895" name="Google Shape;895;p7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6" name="Google Shape;896;p7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7" name="Google Shape;897;p7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8" name="Google Shape;898;p7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899" name="Google Shape;899;p7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900" name="Google Shape;900;p7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901" name="Google Shape;901;p7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902" name="Google Shape;902;p7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903" name="Google Shape;903;p7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904" name="Google Shape;904;p7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5" name="Google Shape;905;p7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6" name="Google Shape;906;p7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907" name="Google Shape;907;p7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908" name="Google Shape;908;p7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9" name="Google Shape;909;p7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10" name="Google Shape;910;p7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11" name="Google Shape;911;p7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912" name="Google Shape;912;p7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атомом">
  <p:cSld name="Шапка с атомом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55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 rotWithShape="1">
          <a:blip r:embed="rId2">
            <a:alphaModFix/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6" name="Google Shape;996;p7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7" name="Google Shape;997;p7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фон">
  <p:cSld name="Фото фон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63" r:id="rId4"/>
    <p:sldLayoutId id="2147483668" r:id="rId5"/>
    <p:sldLayoutId id="2147483674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"/>
          <p:cNvSpPr txBox="1">
            <a:spLocks noGrp="1"/>
          </p:cNvSpPr>
          <p:nvPr>
            <p:ph type="body" idx="1"/>
          </p:nvPr>
        </p:nvSpPr>
        <p:spPr>
          <a:xfrm>
            <a:off x="560194" y="5233399"/>
            <a:ext cx="7349686" cy="13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800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8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"/>
          <p:cNvSpPr txBox="1">
            <a:spLocks noGrp="1"/>
          </p:cNvSpPr>
          <p:nvPr>
            <p:ph type="body" idx="2"/>
          </p:nvPr>
        </p:nvSpPr>
        <p:spPr>
          <a:xfrm>
            <a:off x="560193" y="3890246"/>
            <a:ext cx="614753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Оценка собственных ресурсов</a:t>
            </a:r>
          </a:p>
        </p:txBody>
      </p:sp>
      <p:sp>
        <p:nvSpPr>
          <p:cNvPr id="1016" name="Google Shape;1016;p2"/>
          <p:cNvSpPr txBox="1">
            <a:spLocks noGrp="1"/>
          </p:cNvSpPr>
          <p:nvPr>
            <p:ph type="body" idx="3"/>
          </p:nvPr>
        </p:nvSpPr>
        <p:spPr>
          <a:xfrm>
            <a:off x="560195" y="3105834"/>
            <a:ext cx="5535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ru-RU" dirty="0"/>
              <a:t>НИР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/>
          <p:cNvPicPr preferRelativeResize="0"/>
          <p:nvPr/>
        </p:nvPicPr>
        <p:blipFill rotWithShape="1">
          <a:blip r:embed="rId3">
            <a:alphaModFix amt="45000"/>
          </a:blip>
          <a:srcRect l="38538" b="28686"/>
          <a:stretch/>
        </p:blipFill>
        <p:spPr>
          <a:xfrm>
            <a:off x="0" y="2683359"/>
            <a:ext cx="3424263" cy="41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 txBox="1"/>
          <p:nvPr/>
        </p:nvSpPr>
        <p:spPr>
          <a:xfrm>
            <a:off x="3548552" y="759532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6"/>
          <p:cNvSpPr txBox="1"/>
          <p:nvPr/>
        </p:nvSpPr>
        <p:spPr>
          <a:xfrm>
            <a:off x="4362208" y="1190812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Карта компетенций</a:t>
            </a:r>
            <a:endParaRPr dirty="0"/>
          </a:p>
        </p:txBody>
      </p:sp>
      <p:sp>
        <p:nvSpPr>
          <p:cNvPr id="1063" name="Google Shape;1063;p6"/>
          <p:cNvSpPr txBox="1"/>
          <p:nvPr/>
        </p:nvSpPr>
        <p:spPr>
          <a:xfrm>
            <a:off x="3548552" y="149444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6"/>
          <p:cNvSpPr txBox="1"/>
          <p:nvPr/>
        </p:nvSpPr>
        <p:spPr>
          <a:xfrm>
            <a:off x="4362208" y="1925725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Матрица ресурсов и доступа</a:t>
            </a:r>
          </a:p>
        </p:txBody>
      </p:sp>
      <p:sp>
        <p:nvSpPr>
          <p:cNvPr id="1065" name="Google Shape;1065;p6"/>
          <p:cNvSpPr txBox="1"/>
          <p:nvPr/>
        </p:nvSpPr>
        <p:spPr>
          <a:xfrm>
            <a:off x="3548552" y="2229358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66" name="Google Shape;1066;p6"/>
          <p:cNvSpPr txBox="1"/>
          <p:nvPr/>
        </p:nvSpPr>
        <p:spPr>
          <a:xfrm>
            <a:off x="4362208" y="2660638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Бюджет времени и сложности</a:t>
            </a:r>
            <a:endParaRPr lang="ru-RU" dirty="0"/>
          </a:p>
        </p:txBody>
      </p:sp>
      <p:sp>
        <p:nvSpPr>
          <p:cNvPr id="1067" name="Google Shape;1067;p6"/>
          <p:cNvSpPr txBox="1"/>
          <p:nvPr/>
        </p:nvSpPr>
        <p:spPr>
          <a:xfrm>
            <a:off x="3548552" y="2964271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068" name="Google Shape;1068;p6"/>
          <p:cNvSpPr txBox="1"/>
          <p:nvPr/>
        </p:nvSpPr>
        <p:spPr>
          <a:xfrm>
            <a:off x="4362208" y="3395551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sym typeface="Montserrat"/>
              </a:rPr>
              <a:t>Неудачная оценка</a:t>
            </a:r>
          </a:p>
        </p:txBody>
      </p:sp>
      <p:sp>
        <p:nvSpPr>
          <p:cNvPr id="1069" name="Google Shape;1069;p6"/>
          <p:cNvSpPr txBox="1"/>
          <p:nvPr/>
        </p:nvSpPr>
        <p:spPr>
          <a:xfrm>
            <a:off x="3548552" y="3699184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6"/>
          <p:cNvSpPr txBox="1"/>
          <p:nvPr/>
        </p:nvSpPr>
        <p:spPr>
          <a:xfrm>
            <a:off x="4362208" y="4130464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Матрица реализуемости темы</a:t>
            </a:r>
            <a:endParaRPr dirty="0"/>
          </a:p>
        </p:txBody>
      </p:sp>
      <p:sp>
        <p:nvSpPr>
          <p:cNvPr id="1071" name="Google Shape;1071;p6"/>
          <p:cNvSpPr txBox="1"/>
          <p:nvPr/>
        </p:nvSpPr>
        <p:spPr>
          <a:xfrm>
            <a:off x="3548552" y="443863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id="1072" name="Google Shape;1072;p6"/>
          <p:cNvSpPr txBox="1"/>
          <p:nvPr/>
        </p:nvSpPr>
        <p:spPr>
          <a:xfrm>
            <a:off x="4362208" y="4869915"/>
            <a:ext cx="574734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Обобщение самооценки</a:t>
            </a:r>
          </a:p>
        </p:txBody>
      </p:sp>
      <p:sp>
        <p:nvSpPr>
          <p:cNvPr id="1075" name="Google Shape;1075;p6"/>
          <p:cNvSpPr txBox="1"/>
          <p:nvPr/>
        </p:nvSpPr>
        <p:spPr>
          <a:xfrm>
            <a:off x="559572" y="359101"/>
            <a:ext cx="3066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01. Карта компетенций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Компетенции</a:t>
            </a:r>
            <a:endParaRPr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F59B4ED8-6ADF-441F-A50B-1E4481A80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030813"/>
              </p:ext>
            </p:extLst>
          </p:nvPr>
        </p:nvGraphicFramePr>
        <p:xfrm>
          <a:off x="1259698" y="1259697"/>
          <a:ext cx="9821805" cy="4802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361">
                  <a:extLst>
                    <a:ext uri="{9D8B030D-6E8A-4147-A177-3AD203B41FA5}">
                      <a16:colId xmlns:a16="http://schemas.microsoft.com/office/drawing/2014/main" val="3652637292"/>
                    </a:ext>
                  </a:extLst>
                </a:gridCol>
                <a:gridCol w="1964361">
                  <a:extLst>
                    <a:ext uri="{9D8B030D-6E8A-4147-A177-3AD203B41FA5}">
                      <a16:colId xmlns:a16="http://schemas.microsoft.com/office/drawing/2014/main" val="2545781283"/>
                    </a:ext>
                  </a:extLst>
                </a:gridCol>
                <a:gridCol w="1964361">
                  <a:extLst>
                    <a:ext uri="{9D8B030D-6E8A-4147-A177-3AD203B41FA5}">
                      <a16:colId xmlns:a16="http://schemas.microsoft.com/office/drawing/2014/main" val="50841564"/>
                    </a:ext>
                  </a:extLst>
                </a:gridCol>
                <a:gridCol w="1964361">
                  <a:extLst>
                    <a:ext uri="{9D8B030D-6E8A-4147-A177-3AD203B41FA5}">
                      <a16:colId xmlns:a16="http://schemas.microsoft.com/office/drawing/2014/main" val="264009889"/>
                    </a:ext>
                  </a:extLst>
                </a:gridCol>
                <a:gridCol w="1964361">
                  <a:extLst>
                    <a:ext uri="{9D8B030D-6E8A-4147-A177-3AD203B41FA5}">
                      <a16:colId xmlns:a16="http://schemas.microsoft.com/office/drawing/2014/main" val="3047190836"/>
                    </a:ext>
                  </a:extLst>
                </a:gridCol>
              </a:tblGrid>
              <a:tr h="64894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Компетенция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Какой уровень нужен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Мой уровень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На чем основана оценка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Что делать с дефицитом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245576590"/>
                  </a:ext>
                </a:extLst>
              </a:tr>
              <a:tr h="908524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Python 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 обработка данных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Использовал в учебных и рабочих проектах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Достаточно для старта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71270578"/>
                  </a:ext>
                </a:extLst>
              </a:tr>
              <a:tr h="1168102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Работа с готовыми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ML-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моделями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1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Прошел курс, мало самостоятельной практики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Сделать небольшой тестовый эксперимент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662234706"/>
                  </a:ext>
                </a:extLst>
              </a:tr>
              <a:tr h="1168102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Статистическое сравнение результатов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0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Практического опыта нет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Освоить базовые методы и заранее обсудить с руководителем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777659588"/>
                  </a:ext>
                </a:extLst>
              </a:tr>
              <a:tr h="908524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Работа с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Git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1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Регулярно использую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Дополнительной подготовки не требуется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3053379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02. Матрица ресурсов и доступа</a:t>
            </a:r>
          </a:p>
        </p:txBody>
      </p:sp>
    </p:spTree>
    <p:extLst>
      <p:ext uri="{BB962C8B-B14F-4D97-AF65-F5344CB8AC3E}">
        <p14:creationId xmlns:p14="http://schemas.microsoft.com/office/powerpoint/2010/main" val="8353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61;p17">
            <a:extLst>
              <a:ext uri="{FF2B5EF4-FFF2-40B4-BE49-F238E27FC236}">
                <a16:creationId xmlns:a16="http://schemas.microsoft.com/office/drawing/2014/main" id="{7698777F-6FDF-4EB9-B0FB-751C8EB81E3E}"/>
              </a:ext>
            </a:extLst>
          </p:cNvPr>
          <p:cNvSpPr txBox="1">
            <a:spLocks/>
          </p:cNvSpPr>
          <p:nvPr/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</a:rPr>
              <a:t>Ресурсы и доступ</a:t>
            </a: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A503F57F-0360-4AE6-A27A-7A412DC4D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343188"/>
              </p:ext>
            </p:extLst>
          </p:nvPr>
        </p:nvGraphicFramePr>
        <p:xfrm>
          <a:off x="1306590" y="1246907"/>
          <a:ext cx="9578820" cy="4968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764">
                  <a:extLst>
                    <a:ext uri="{9D8B030D-6E8A-4147-A177-3AD203B41FA5}">
                      <a16:colId xmlns:a16="http://schemas.microsoft.com/office/drawing/2014/main" val="2467475892"/>
                    </a:ext>
                  </a:extLst>
                </a:gridCol>
                <a:gridCol w="1915764">
                  <a:extLst>
                    <a:ext uri="{9D8B030D-6E8A-4147-A177-3AD203B41FA5}">
                      <a16:colId xmlns:a16="http://schemas.microsoft.com/office/drawing/2014/main" val="2116565782"/>
                    </a:ext>
                  </a:extLst>
                </a:gridCol>
                <a:gridCol w="1915764">
                  <a:extLst>
                    <a:ext uri="{9D8B030D-6E8A-4147-A177-3AD203B41FA5}">
                      <a16:colId xmlns:a16="http://schemas.microsoft.com/office/drawing/2014/main" val="2082643520"/>
                    </a:ext>
                  </a:extLst>
                </a:gridCol>
                <a:gridCol w="1915764">
                  <a:extLst>
                    <a:ext uri="{9D8B030D-6E8A-4147-A177-3AD203B41FA5}">
                      <a16:colId xmlns:a16="http://schemas.microsoft.com/office/drawing/2014/main" val="1324098473"/>
                    </a:ext>
                  </a:extLst>
                </a:gridCol>
                <a:gridCol w="1915764">
                  <a:extLst>
                    <a:ext uri="{9D8B030D-6E8A-4147-A177-3AD203B41FA5}">
                      <a16:colId xmlns:a16="http://schemas.microsoft.com/office/drawing/2014/main" val="2786672730"/>
                    </a:ext>
                  </a:extLst>
                </a:gridCol>
              </a:tblGrid>
              <a:tr h="70978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Ресурс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Зачем он нужен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Текущий статус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От кого зависит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Возможная замена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551969877"/>
                  </a:ext>
                </a:extLst>
              </a:tr>
              <a:tr h="99369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Датасет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 фишинговых сообщений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Основной эксперимент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Доступ подтвержден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зависит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Можно дополнить открытыми корпусами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991714050"/>
                  </a:ext>
                </a:extLst>
              </a:tr>
              <a:tr h="99369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Доступ к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LLM API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Генерация тестовых сообщений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Вероятно доступен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Внешний сервис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Локальная открытая модель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940889316"/>
                  </a:ext>
                </a:extLst>
              </a:tr>
              <a:tr h="1277602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GPU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Запуск части моделей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Неопределенно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Лаборатория / облако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Использовать готовые модели без обучения с нуля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369976084"/>
                  </a:ext>
                </a:extLst>
              </a:tr>
              <a:tr h="99369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Реальные данные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SOC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Проверка на реальном контексте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Недоступно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Компания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Тестовый стенд и открытые данные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479581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0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219523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03. Бюджет времени и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237766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Бюджет времени и сложности</a:t>
            </a:r>
            <a:endParaRPr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7FBA8289-917E-4072-AC86-D66EFD80A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373739"/>
              </p:ext>
            </p:extLst>
          </p:nvPr>
        </p:nvGraphicFramePr>
        <p:xfrm>
          <a:off x="1240514" y="1425951"/>
          <a:ext cx="9591608" cy="452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902">
                  <a:extLst>
                    <a:ext uri="{9D8B030D-6E8A-4147-A177-3AD203B41FA5}">
                      <a16:colId xmlns:a16="http://schemas.microsoft.com/office/drawing/2014/main" val="3309337363"/>
                    </a:ext>
                  </a:extLst>
                </a:gridCol>
                <a:gridCol w="2397902">
                  <a:extLst>
                    <a:ext uri="{9D8B030D-6E8A-4147-A177-3AD203B41FA5}">
                      <a16:colId xmlns:a16="http://schemas.microsoft.com/office/drawing/2014/main" val="3827689694"/>
                    </a:ext>
                  </a:extLst>
                </a:gridCol>
                <a:gridCol w="2397902">
                  <a:extLst>
                    <a:ext uri="{9D8B030D-6E8A-4147-A177-3AD203B41FA5}">
                      <a16:colId xmlns:a16="http://schemas.microsoft.com/office/drawing/2014/main" val="1179179556"/>
                    </a:ext>
                  </a:extLst>
                </a:gridCol>
                <a:gridCol w="2397902">
                  <a:extLst>
                    <a:ext uri="{9D8B030D-6E8A-4147-A177-3AD203B41FA5}">
                      <a16:colId xmlns:a16="http://schemas.microsoft.com/office/drawing/2014/main" val="2965368466"/>
                    </a:ext>
                  </a:extLst>
                </a:gridCol>
              </a:tblGrid>
              <a:tr h="62789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Этап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Что должно быть готово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Реалистичная оценка времени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Что может задержать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636838367"/>
                  </a:ext>
                </a:extLst>
              </a:tr>
              <a:tr h="8790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Уточнение источников и методов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Выбран набор сравниваемых подходов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1-2 недели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Нужно расширить поиск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11113476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Подготовка данных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Очищенный и описанный датасет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 недели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Проблемы с качеством и разметкой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499058899"/>
                  </a:ext>
                </a:extLst>
              </a:tr>
              <a:tr h="8790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Базовый эксперимент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Получены исходные метрики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1 неделя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Ошибки в воспроизведении метода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511614974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Основной эксперимент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Результаты по выбранным сценариям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2-3 недели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Нужно повторить серии запусков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38894994"/>
                  </a:ext>
                </a:extLst>
              </a:tr>
              <a:tr h="8790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Анализ результатов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Таблицы, графики, интерпретация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1-2 недели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Метрики дают неоднозначный результат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01224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86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04. Неудачная оценка</a:t>
            </a:r>
          </a:p>
        </p:txBody>
      </p:sp>
    </p:spTree>
    <p:extLst>
      <p:ext uri="{BB962C8B-B14F-4D97-AF65-F5344CB8AC3E}">
        <p14:creationId xmlns:p14="http://schemas.microsoft.com/office/powerpoint/2010/main" val="248655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Все, что может провалиться, проваливается</a:t>
            </a:r>
            <a:endParaRPr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0806B041-65B9-47BE-B633-802B371AB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531188"/>
              </p:ext>
            </p:extLst>
          </p:nvPr>
        </p:nvGraphicFramePr>
        <p:xfrm>
          <a:off x="1138204" y="1355614"/>
          <a:ext cx="9642764" cy="488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691">
                  <a:extLst>
                    <a:ext uri="{9D8B030D-6E8A-4147-A177-3AD203B41FA5}">
                      <a16:colId xmlns:a16="http://schemas.microsoft.com/office/drawing/2014/main" val="986493938"/>
                    </a:ext>
                  </a:extLst>
                </a:gridCol>
                <a:gridCol w="2410691">
                  <a:extLst>
                    <a:ext uri="{9D8B030D-6E8A-4147-A177-3AD203B41FA5}">
                      <a16:colId xmlns:a16="http://schemas.microsoft.com/office/drawing/2014/main" val="2605707086"/>
                    </a:ext>
                  </a:extLst>
                </a:gridCol>
                <a:gridCol w="2410691">
                  <a:extLst>
                    <a:ext uri="{9D8B030D-6E8A-4147-A177-3AD203B41FA5}">
                      <a16:colId xmlns:a16="http://schemas.microsoft.com/office/drawing/2014/main" val="1989833046"/>
                    </a:ext>
                  </a:extLst>
                </a:gridCol>
                <a:gridCol w="2410691">
                  <a:extLst>
                    <a:ext uri="{9D8B030D-6E8A-4147-A177-3AD203B41FA5}">
                      <a16:colId xmlns:a16="http://schemas.microsoft.com/office/drawing/2014/main" val="3156135439"/>
                    </a:ext>
                  </a:extLst>
                </a:gridCol>
              </a:tblGrid>
              <a:tr h="542814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Риск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Вероятность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Последствия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Что можно сделать заранее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659741263"/>
                  </a:ext>
                </a:extLst>
              </a:tr>
              <a:tr h="141131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удастся получить реальные данные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3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3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Сразу строить эксперимент так, чтобы его можно было провести на открытом или синтетическом наборе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164792391"/>
                  </a:ext>
                </a:extLst>
              </a:tr>
              <a:tr h="75993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Недостаточно вычислительных ресурсов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Использовать готовую модель и отказаться от обучения с нуля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546874092"/>
                  </a:ext>
                </a:extLst>
              </a:tr>
              <a:tr h="97706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Результаты разных запусков нестабильны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2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3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Заложить повторные серии экспериментов и фиксировать параметры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241566136"/>
                  </a:ext>
                </a:extLst>
              </a:tr>
              <a:tr h="119419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Внешний API изменит условия доступа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1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3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Сохранить тестовый набор заранее и предусмотреть локальную альтернативу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04668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24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05. Матрица реализуемости темы</a:t>
            </a:r>
          </a:p>
        </p:txBody>
      </p:sp>
    </p:spTree>
    <p:extLst>
      <p:ext uri="{BB962C8B-B14F-4D97-AF65-F5344CB8AC3E}">
        <p14:creationId xmlns:p14="http://schemas.microsoft.com/office/powerpoint/2010/main" val="370832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14;p22">
            <a:extLst>
              <a:ext uri="{FF2B5EF4-FFF2-40B4-BE49-F238E27FC236}">
                <a16:creationId xmlns:a16="http://schemas.microsoft.com/office/drawing/2014/main" id="{FA57322A-04DD-4B72-AF63-054D36656AE5}"/>
              </a:ext>
            </a:extLst>
          </p:cNvPr>
          <p:cNvSpPr txBox="1">
            <a:spLocks/>
          </p:cNvSpPr>
          <p:nvPr/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</a:rPr>
              <a:t>Реализуемость темы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03A8A7EC-1F46-48DD-B087-8BAB9509B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78816"/>
              </p:ext>
            </p:extLst>
          </p:nvPr>
        </p:nvGraphicFramePr>
        <p:xfrm>
          <a:off x="971949" y="1106232"/>
          <a:ext cx="9674735" cy="5262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947">
                  <a:extLst>
                    <a:ext uri="{9D8B030D-6E8A-4147-A177-3AD203B41FA5}">
                      <a16:colId xmlns:a16="http://schemas.microsoft.com/office/drawing/2014/main" val="2087347863"/>
                    </a:ext>
                  </a:extLst>
                </a:gridCol>
                <a:gridCol w="1934947">
                  <a:extLst>
                    <a:ext uri="{9D8B030D-6E8A-4147-A177-3AD203B41FA5}">
                      <a16:colId xmlns:a16="http://schemas.microsoft.com/office/drawing/2014/main" val="516570884"/>
                    </a:ext>
                  </a:extLst>
                </a:gridCol>
                <a:gridCol w="1934947">
                  <a:extLst>
                    <a:ext uri="{9D8B030D-6E8A-4147-A177-3AD203B41FA5}">
                      <a16:colId xmlns:a16="http://schemas.microsoft.com/office/drawing/2014/main" val="3936166144"/>
                    </a:ext>
                  </a:extLst>
                </a:gridCol>
                <a:gridCol w="1934947">
                  <a:extLst>
                    <a:ext uri="{9D8B030D-6E8A-4147-A177-3AD203B41FA5}">
                      <a16:colId xmlns:a16="http://schemas.microsoft.com/office/drawing/2014/main" val="2224897876"/>
                    </a:ext>
                  </a:extLst>
                </a:gridCol>
                <a:gridCol w="1934947">
                  <a:extLst>
                    <a:ext uri="{9D8B030D-6E8A-4147-A177-3AD203B41FA5}">
                      <a16:colId xmlns:a16="http://schemas.microsoft.com/office/drawing/2014/main" val="1556887443"/>
                    </a:ext>
                  </a:extLst>
                </a:gridCol>
              </a:tblGrid>
              <a:tr h="4263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Критерий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0 баллов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1 балл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2 балла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3 балла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410164122"/>
                  </a:ext>
                </a:extLst>
              </a:tr>
              <a:tr h="94621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Компетенции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Большинство ключевых компетенций отсутствует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Есть несколько серьезных дефицитов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Основные навыки есть, пробелы можно закрыть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Компетенций достаточно для самостоятельной работы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893997487"/>
                  </a:ext>
                </a:extLst>
              </a:tr>
              <a:tr h="94621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Данные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Нужных данных нет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Доступ не подтвержден и сильно зависит от других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Есть реалистичный способ получить данные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Данные уже доступны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873840711"/>
                  </a:ext>
                </a:extLst>
              </a:tr>
              <a:tr h="73594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Инструменты и инфраструктура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Критические ресурсы недоступны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Есть существенные ограничения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Ограничения можно обойти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Все основные ресурсы доступны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137204529"/>
                  </a:ext>
                </a:extLst>
              </a:tr>
              <a:tr h="73594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Время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Работа явно не помещается в срок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Сроки очень напряженные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План реалистичен при дисциплине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Есть временной резерв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13625250"/>
                  </a:ext>
                </a:extLst>
              </a:tr>
              <a:tr h="73594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Внешние зависимости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Работа полностью зависит от третьей стороны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Зависимостей много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Зависимости контролируемы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Исследование почти автономно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911579343"/>
                  </a:ext>
                </a:extLst>
              </a:tr>
              <a:tr h="73594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Проверяемость результата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Неясно, как доказать результат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Критерии оценки слабые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Есть понятная схема проверки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Результат измерим и воспроизводим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07105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246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3393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06. Обобщение самооценки</a:t>
            </a:r>
          </a:p>
        </p:txBody>
      </p:sp>
    </p:spTree>
    <p:extLst>
      <p:ext uri="{BB962C8B-B14F-4D97-AF65-F5344CB8AC3E}">
        <p14:creationId xmlns:p14="http://schemas.microsoft.com/office/powerpoint/2010/main" val="395520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Практический совет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54422" y="1501180"/>
            <a:ext cx="883381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Разработка системы автоматического обнаружения фишинговых сообщений, созданных с использованием LLM</a:t>
            </a:r>
          </a:p>
        </p:txBody>
      </p:sp>
      <p:sp>
        <p:nvSpPr>
          <p:cNvPr id="4" name="Google Shape;1216;p22">
            <a:extLst>
              <a:ext uri="{FF2B5EF4-FFF2-40B4-BE49-F238E27FC236}">
                <a16:creationId xmlns:a16="http://schemas.microsoft.com/office/drawing/2014/main" id="{4EE6802D-A7B4-4C95-8F50-C1D4EC2CC837}"/>
              </a:ext>
            </a:extLst>
          </p:cNvPr>
          <p:cNvSpPr txBox="1">
            <a:spLocks/>
          </p:cNvSpPr>
          <p:nvPr/>
        </p:nvSpPr>
        <p:spPr>
          <a:xfrm>
            <a:off x="559572" y="3307052"/>
            <a:ext cx="883381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800" dirty="0">
                <a:solidFill>
                  <a:srgbClr val="000000"/>
                </a:solidFill>
                <a:latin typeface="Montserrat" panose="00000500000000000000" pitchFamily="2" charset="-52"/>
              </a:rPr>
              <a:t>Сравнительная оценка методов обнаружения фишинговых сообщений, сгенерированных большими языковыми моделями</a:t>
            </a:r>
          </a:p>
        </p:txBody>
      </p:sp>
      <p:sp>
        <p:nvSpPr>
          <p:cNvPr id="2" name="Стрелка: вниз 1">
            <a:extLst>
              <a:ext uri="{FF2B5EF4-FFF2-40B4-BE49-F238E27FC236}">
                <a16:creationId xmlns:a16="http://schemas.microsoft.com/office/drawing/2014/main" id="{194EF17B-D337-42FE-AC43-414E315F359D}"/>
              </a:ext>
            </a:extLst>
          </p:cNvPr>
          <p:cNvSpPr/>
          <p:nvPr/>
        </p:nvSpPr>
        <p:spPr>
          <a:xfrm>
            <a:off x="4337037" y="2263667"/>
            <a:ext cx="524341" cy="9271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62796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524</Words>
  <Application>Microsoft Office PowerPoint</Application>
  <PresentationFormat>Широкоэкранный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Montserrat</vt:lpstr>
      <vt:lpstr>Calibri</vt:lpstr>
      <vt:lpstr>Шаблон МИФИ</vt:lpstr>
      <vt:lpstr>Презентация PowerPoint</vt:lpstr>
      <vt:lpstr>Презентация PowerPoint</vt:lpstr>
      <vt:lpstr>01. Карта компетенций</vt:lpstr>
      <vt:lpstr>Компетенции</vt:lpstr>
      <vt:lpstr>02. Матрица ресурсов и доступа</vt:lpstr>
      <vt:lpstr>Презентация PowerPoint</vt:lpstr>
      <vt:lpstr>03. Бюджет времени и сложности</vt:lpstr>
      <vt:lpstr>Бюджет времени и сложности</vt:lpstr>
      <vt:lpstr>04. Неудачная оценка</vt:lpstr>
      <vt:lpstr>Все, что может провалиться, проваливается</vt:lpstr>
      <vt:lpstr>05. Матрица реализуемости темы</vt:lpstr>
      <vt:lpstr>Презентация PowerPoint</vt:lpstr>
      <vt:lpstr>06. Обобщение самооценки</vt:lpstr>
      <vt:lpstr>Практический совет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Константин Некрасов</cp:lastModifiedBy>
  <cp:revision>65</cp:revision>
  <dcterms:created xsi:type="dcterms:W3CDTF">2020-05-28T16:18:16Z</dcterms:created>
  <dcterms:modified xsi:type="dcterms:W3CDTF">2026-09-24T05:05:22Z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