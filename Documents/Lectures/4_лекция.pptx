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261" r:id="rId3"/>
    <p:sldId id="266" r:id="rId4"/>
    <p:sldId id="268" r:id="rId5"/>
    <p:sldId id="299" r:id="rId6"/>
    <p:sldId id="334" r:id="rId7"/>
    <p:sldId id="327" r:id="rId8"/>
    <p:sldId id="335" r:id="rId9"/>
    <p:sldId id="336" r:id="rId10"/>
    <p:sldId id="303" r:id="rId11"/>
    <p:sldId id="304" r:id="rId12"/>
    <p:sldId id="305" r:id="rId13"/>
    <p:sldId id="328" r:id="rId14"/>
    <p:sldId id="340" r:id="rId15"/>
    <p:sldId id="341" r:id="rId16"/>
    <p:sldId id="309" r:id="rId17"/>
    <p:sldId id="310" r:id="rId18"/>
    <p:sldId id="311" r:id="rId19"/>
    <p:sldId id="313" r:id="rId20"/>
    <p:sldId id="315" r:id="rId21"/>
    <p:sldId id="338" r:id="rId22"/>
    <p:sldId id="339" r:id="rId23"/>
    <p:sldId id="333" r:id="rId24"/>
    <p:sldId id="337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Montserrat" panose="00000500000000000000" pitchFamily="2" charset="-52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946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287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9361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5890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130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379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81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4897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9598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188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8316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178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184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3364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44087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067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077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4">
  <p:cSld name="Фото 4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69773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4" name="Google Shape;514;p5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5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6" name="Google Shape;516;p5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7" name="Google Shape;517;p59"/>
          <p:cNvSpPr>
            <a:spLocks noGrp="1"/>
          </p:cNvSpPr>
          <p:nvPr>
            <p:ph type="pic" idx="3"/>
          </p:nvPr>
        </p:nvSpPr>
        <p:spPr>
          <a:xfrm>
            <a:off x="8947150" y="1"/>
            <a:ext cx="3244850" cy="68531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9">
  <p:cSld name="Фото 9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2" name="Google Shape;642;p6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4" name="Google Shape;644;p6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5" name="Google Shape;645;p64"/>
          <p:cNvSpPr>
            <a:spLocks noGrp="1"/>
          </p:cNvSpPr>
          <p:nvPr>
            <p:ph type="pic" idx="3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64"/>
          <p:cNvSpPr>
            <a:spLocks noGrp="1"/>
          </p:cNvSpPr>
          <p:nvPr>
            <p:ph type="pic" idx="4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64"/>
          <p:cNvSpPr>
            <a:spLocks noGrp="1"/>
          </p:cNvSpPr>
          <p:nvPr>
            <p:ph type="pic" idx="5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64"/>
          <p:cNvSpPr>
            <a:spLocks noGrp="1"/>
          </p:cNvSpPr>
          <p:nvPr>
            <p:ph type="pic" idx="6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9" name="Google Shape;649;p64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650" name="Google Shape;650;p64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651" name="Google Shape;651;p64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652" name="Google Shape;652;p64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653" name="Google Shape;653;p64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654" name="Google Shape;654;p64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55" name="Google Shape;655;p64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56" name="Google Shape;656;p64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657" name="Google Shape;657;p64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58" name="Google Shape;658;p64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9" name="Google Shape;659;p64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0" name="Google Shape;660;p64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661" name="Google Shape;661;p64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2" name="Google Shape;662;p64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3" name="Google Shape;663;p64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4" name="Google Shape;664;p64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665" name="Google Shape;665;p64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666" name="Google Shape;666;p64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667" name="Google Shape;667;p64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8" name="Google Shape;668;p64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669" name="Google Shape;669;p64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670" name="Google Shape;670;p64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1" name="Google Shape;671;p64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2" name="Google Shape;672;p64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673" name="Google Shape;673;p64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674" name="Google Shape;674;p64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6" name="Google Shape;676;p64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7" name="Google Shape;677;p64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678" name="Google Shape;678;p64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2">
  <p:cSld name="Пустой слайд 2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3" name="Google Shape;883;p7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884" name="Google Shape;884;p7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885" name="Google Shape;885;p7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886" name="Google Shape;886;p7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887" name="Google Shape;887;p7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888" name="Google Shape;888;p7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89" name="Google Shape;889;p7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890" name="Google Shape;890;p7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891" name="Google Shape;891;p7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892" name="Google Shape;892;p7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893" name="Google Shape;893;p7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894" name="Google Shape;894;p7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895" name="Google Shape;895;p7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6" name="Google Shape;896;p7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7" name="Google Shape;897;p7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8" name="Google Shape;898;p7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899" name="Google Shape;899;p7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900" name="Google Shape;900;p7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901" name="Google Shape;901;p7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902" name="Google Shape;902;p7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903" name="Google Shape;903;p7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904" name="Google Shape;904;p7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5" name="Google Shape;905;p7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6" name="Google Shape;906;p7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907" name="Google Shape;907;p7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908" name="Google Shape;908;p7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9" name="Google Shape;909;p7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0" name="Google Shape;910;p7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1" name="Google Shape;911;p7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912" name="Google Shape;912;p7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63" r:id="rId4"/>
    <p:sldLayoutId id="2147483668" r:id="rId5"/>
    <p:sldLayoutId id="214748367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Актуальность исследования</a:t>
            </a:r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Как обосновать актуальность</a:t>
            </a:r>
            <a:endParaRPr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Три уровня актуальности</a:t>
            </a:r>
            <a:endParaRPr dirty="0"/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Логика сильного обоснования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Как писать актуальность исследования</a:t>
            </a:r>
            <a:endParaRPr dirty="0"/>
          </a:p>
        </p:txBody>
      </p:sp>
      <p:sp>
        <p:nvSpPr>
          <p:cNvPr id="1069" name="Google Shape;1069;p6"/>
          <p:cNvSpPr txBox="1"/>
          <p:nvPr/>
        </p:nvSpPr>
        <p:spPr>
          <a:xfrm>
            <a:off x="3548552" y="3699184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6"/>
          <p:cNvSpPr txBox="1"/>
          <p:nvPr/>
        </p:nvSpPr>
        <p:spPr>
          <a:xfrm>
            <a:off x="4362208" y="4130464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Какими источниками подтверждать актуальность</a:t>
            </a:r>
            <a:endParaRPr dirty="0"/>
          </a:p>
        </p:txBody>
      </p:sp>
      <p:sp>
        <p:nvSpPr>
          <p:cNvPr id="1071" name="Google Shape;1071;p6"/>
          <p:cNvSpPr txBox="1"/>
          <p:nvPr/>
        </p:nvSpPr>
        <p:spPr>
          <a:xfrm>
            <a:off x="3548552" y="443863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id="1072" name="Google Shape;1072;p6"/>
          <p:cNvSpPr txBox="1"/>
          <p:nvPr/>
        </p:nvSpPr>
        <p:spPr>
          <a:xfrm>
            <a:off x="4362208" y="4869915"/>
            <a:ext cx="574734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Типичные ошибки в актуальности</a:t>
            </a:r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073;p6">
            <a:extLst>
              <a:ext uri="{FF2B5EF4-FFF2-40B4-BE49-F238E27FC236}">
                <a16:creationId xmlns:a16="http://schemas.microsoft.com/office/drawing/2014/main" id="{FD929F3D-7904-4472-9650-5C9ED1D46CC1}"/>
              </a:ext>
            </a:extLst>
          </p:cNvPr>
          <p:cNvSpPr txBox="1"/>
          <p:nvPr/>
        </p:nvSpPr>
        <p:spPr>
          <a:xfrm>
            <a:off x="3548552" y="5167529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074;p6">
            <a:extLst>
              <a:ext uri="{FF2B5EF4-FFF2-40B4-BE49-F238E27FC236}">
                <a16:creationId xmlns:a16="http://schemas.microsoft.com/office/drawing/2014/main" id="{616B82C5-1736-4610-A72D-8FB6C53ED749}"/>
              </a:ext>
            </a:extLst>
          </p:cNvPr>
          <p:cNvSpPr txBox="1"/>
          <p:nvPr/>
        </p:nvSpPr>
        <p:spPr>
          <a:xfrm>
            <a:off x="4362208" y="5598809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Пример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Как обосновать актуальность?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Корректный подход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dirty="0"/>
              <a:t>Задайте себе вопрос: «Почему я буду  исследовать именно это, если уже существуют статьи, инструменты и готовые решения?»</a:t>
            </a:r>
          </a:p>
        </p:txBody>
      </p:sp>
      <p:pic>
        <p:nvPicPr>
          <p:cNvPr id="1026" name="Picture 2" descr="Оргвопросы (организационные вопросы) — определение и значение в командах и  собраниях">
            <a:extLst>
              <a:ext uri="{FF2B5EF4-FFF2-40B4-BE49-F238E27FC236}">
                <a16:creationId xmlns:a16="http://schemas.microsoft.com/office/drawing/2014/main" id="{06F89C2B-484B-44A5-8F14-006F050A1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566" y="2679256"/>
            <a:ext cx="6594801" cy="366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Три уровня </a:t>
            </a:r>
            <a:r>
              <a:rPr lang="ru-RU" dirty="0" err="1"/>
              <a:t>акутальности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Три уровня актуальности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Технологический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Практический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Научный</a:t>
            </a:r>
          </a:p>
        </p:txBody>
      </p:sp>
    </p:spTree>
    <p:extLst>
      <p:ext uri="{BB962C8B-B14F-4D97-AF65-F5344CB8AC3E}">
        <p14:creationId xmlns:p14="http://schemas.microsoft.com/office/powerpoint/2010/main" val="256901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Технологический уровень</a:t>
            </a:r>
            <a:endParaRPr dirty="0"/>
          </a:p>
        </p:txBody>
      </p:sp>
      <p:sp>
        <p:nvSpPr>
          <p:cNvPr id="7" name="Google Shape;1127;p13">
            <a:extLst>
              <a:ext uri="{FF2B5EF4-FFF2-40B4-BE49-F238E27FC236}">
                <a16:creationId xmlns:a16="http://schemas.microsoft.com/office/drawing/2014/main" id="{36CB46FE-F21C-4438-9E85-F86BD9838AC7}"/>
              </a:ext>
            </a:extLst>
          </p:cNvPr>
          <p:cNvSpPr txBox="1">
            <a:spLocks/>
          </p:cNvSpPr>
          <p:nvPr/>
        </p:nvSpPr>
        <p:spPr>
          <a:xfrm>
            <a:off x="559572" y="2844244"/>
            <a:ext cx="458153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Технологический уровень отвечает на вопрос о том, что изменилось в самой технологии или среде.</a:t>
            </a:r>
          </a:p>
        </p:txBody>
      </p:sp>
      <p:pic>
        <p:nvPicPr>
          <p:cNvPr id="2050" name="Picture 2" descr="Роль инноваций в повышении технологического уровня производства — Новости —  Институт статистических исследований и экономики знаний — Национальный  исследовательский университет «Высшая школа экономики»">
            <a:extLst>
              <a:ext uri="{FF2B5EF4-FFF2-40B4-BE49-F238E27FC236}">
                <a16:creationId xmlns:a16="http://schemas.microsoft.com/office/drawing/2014/main" id="{20EDB9C8-0D52-4996-9678-C2F8376F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96" y="1458284"/>
            <a:ext cx="5588977" cy="372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3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Практический уровень</a:t>
            </a:r>
            <a:endParaRPr dirty="0"/>
          </a:p>
        </p:txBody>
      </p:sp>
      <p:sp>
        <p:nvSpPr>
          <p:cNvPr id="7" name="Google Shape;1127;p13">
            <a:extLst>
              <a:ext uri="{FF2B5EF4-FFF2-40B4-BE49-F238E27FC236}">
                <a16:creationId xmlns:a16="http://schemas.microsoft.com/office/drawing/2014/main" id="{36CB46FE-F21C-4438-9E85-F86BD9838AC7}"/>
              </a:ext>
            </a:extLst>
          </p:cNvPr>
          <p:cNvSpPr txBox="1">
            <a:spLocks/>
          </p:cNvSpPr>
          <p:nvPr/>
        </p:nvSpPr>
        <p:spPr>
          <a:xfrm>
            <a:off x="559572" y="2844244"/>
            <a:ext cx="458153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Практический уровень связан с тем, что происходит у тех, кто реально решает эту задачу.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AF7BE0-4A60-4680-A36C-358069A76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032" y="1425454"/>
            <a:ext cx="48291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6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Научный уровень</a:t>
            </a:r>
            <a:endParaRPr dirty="0"/>
          </a:p>
        </p:txBody>
      </p:sp>
      <p:sp>
        <p:nvSpPr>
          <p:cNvPr id="7" name="Google Shape;1127;p13">
            <a:extLst>
              <a:ext uri="{FF2B5EF4-FFF2-40B4-BE49-F238E27FC236}">
                <a16:creationId xmlns:a16="http://schemas.microsoft.com/office/drawing/2014/main" id="{36CB46FE-F21C-4438-9E85-F86BD9838AC7}"/>
              </a:ext>
            </a:extLst>
          </p:cNvPr>
          <p:cNvSpPr txBox="1">
            <a:spLocks/>
          </p:cNvSpPr>
          <p:nvPr/>
        </p:nvSpPr>
        <p:spPr>
          <a:xfrm>
            <a:off x="559572" y="2844244"/>
            <a:ext cx="458153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Научный уровень относится к тому, что пока недостаточно объяснено, проверено или сопоставлено в исследованиях. </a:t>
            </a:r>
          </a:p>
        </p:txBody>
      </p:sp>
      <p:pic>
        <p:nvPicPr>
          <p:cNvPr id="4102" name="Picture 6" descr="Что есть наука?">
            <a:extLst>
              <a:ext uri="{FF2B5EF4-FFF2-40B4-BE49-F238E27FC236}">
                <a16:creationId xmlns:a16="http://schemas.microsoft.com/office/drawing/2014/main" id="{0A3C1F39-2B44-4B27-BEE1-5486C72DA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75521"/>
            <a:ext cx="5131244" cy="364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6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21952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Логика сильного обоснования</a:t>
            </a:r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Четырехступенчатая логика</a:t>
            </a:r>
            <a:endParaRPr dirty="0"/>
          </a:p>
        </p:txBody>
      </p:sp>
      <p:sp>
        <p:nvSpPr>
          <p:cNvPr id="1163" name="Google Shape;1163;p17"/>
          <p:cNvSpPr txBox="1">
            <a:spLocks noGrp="1"/>
          </p:cNvSpPr>
          <p:nvPr>
            <p:ph type="body" idx="2"/>
          </p:nvPr>
        </p:nvSpPr>
        <p:spPr>
          <a:xfrm>
            <a:off x="559572" y="1865510"/>
            <a:ext cx="527852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600" b="1" dirty="0"/>
              <a:t>Читать должен: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Увидеть контекст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Увидеть конкретную проблему или потребность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Понять почему проблема требует внимания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Увидеть что может дать работа</a:t>
            </a:r>
          </a:p>
        </p:txBody>
      </p:sp>
    </p:spTree>
    <p:extLst>
      <p:ext uri="{BB962C8B-B14F-4D97-AF65-F5344CB8AC3E}">
        <p14:creationId xmlns:p14="http://schemas.microsoft.com/office/powerpoint/2010/main" val="3650865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Контекст</a:t>
            </a:r>
            <a:endParaRPr dirty="0"/>
          </a:p>
        </p:txBody>
      </p:sp>
      <p:sp>
        <p:nvSpPr>
          <p:cNvPr id="9" name="Google Shape;1216;p22">
            <a:extLst>
              <a:ext uri="{FF2B5EF4-FFF2-40B4-BE49-F238E27FC236}">
                <a16:creationId xmlns:a16="http://schemas.microsoft.com/office/drawing/2014/main" id="{809A7554-43C5-4E57-B1D4-9EDB38F961CA}"/>
              </a:ext>
            </a:extLst>
          </p:cNvPr>
          <p:cNvSpPr txBox="1">
            <a:spLocks/>
          </p:cNvSpPr>
          <p:nvPr/>
        </p:nvSpPr>
        <p:spPr>
          <a:xfrm>
            <a:off x="559572" y="1747790"/>
            <a:ext cx="8271102" cy="70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144145" indent="0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Контекст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нужен для ориентации, но его должно быть ровно столько, сколько необходимо.</a:t>
            </a:r>
          </a:p>
        </p:txBody>
      </p:sp>
      <p:pic>
        <p:nvPicPr>
          <p:cNvPr id="6146" name="Picture 2" descr="Как контекст меняет смысл высказывания — Журнал Английской школы">
            <a:extLst>
              <a:ext uri="{FF2B5EF4-FFF2-40B4-BE49-F238E27FC236}">
                <a16:creationId xmlns:a16="http://schemas.microsoft.com/office/drawing/2014/main" id="{F7ED5832-06BB-4798-996B-15EDDD32A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538" y="2607801"/>
            <a:ext cx="5392615" cy="303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17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Затруднение</a:t>
            </a:r>
            <a:endParaRPr dirty="0"/>
          </a:p>
        </p:txBody>
      </p:sp>
      <p:sp>
        <p:nvSpPr>
          <p:cNvPr id="1163" name="Google Shape;1163;p17"/>
          <p:cNvSpPr txBox="1">
            <a:spLocks noGrp="1"/>
          </p:cNvSpPr>
          <p:nvPr>
            <p:ph type="body" idx="2"/>
          </p:nvPr>
        </p:nvSpPr>
        <p:spPr>
          <a:xfrm>
            <a:off x="559572" y="1499371"/>
            <a:ext cx="527852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После контекста должно появиться </a:t>
            </a:r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затруднение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. </a:t>
            </a:r>
            <a:endParaRPr lang="en-US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en-US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Например, </a:t>
            </a:r>
            <a:r>
              <a:rPr lang="ru-RU" sz="1600" i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разные инструменты дают неодинаковое количество ложных срабатываний, а строгие политики блокировки могут замедлять </a:t>
            </a:r>
            <a:r>
              <a:rPr lang="ru-RU" sz="1600" i="1" dirty="0" err="1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pipeline</a:t>
            </a:r>
            <a:r>
              <a:rPr lang="ru-RU" sz="1600" i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.</a:t>
            </a:r>
            <a:endParaRPr lang="ru-RU" sz="1600" i="1" dirty="0">
              <a:latin typeface="Montserrat" panose="00000500000000000000" pitchFamily="2" charset="-52"/>
            </a:endParaRPr>
          </a:p>
        </p:txBody>
      </p:sp>
      <p:pic>
        <p:nvPicPr>
          <p:cNvPr id="6148" name="Picture 4" descr="Проверим вашего контрагента - buhgalter-33.ru">
            <a:extLst>
              <a:ext uri="{FF2B5EF4-FFF2-40B4-BE49-F238E27FC236}">
                <a16:creationId xmlns:a16="http://schemas.microsoft.com/office/drawing/2014/main" id="{DFB3A3AF-3ECD-432C-A9D5-2C4515E7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433" y="1019944"/>
            <a:ext cx="5310554" cy="531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14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Почему это важно?</a:t>
            </a:r>
            <a:endParaRPr dirty="0"/>
          </a:p>
        </p:txBody>
      </p:sp>
      <p:sp>
        <p:nvSpPr>
          <p:cNvPr id="1163" name="Google Shape;1163;p17"/>
          <p:cNvSpPr txBox="1">
            <a:spLocks noGrp="1"/>
          </p:cNvSpPr>
          <p:nvPr>
            <p:ph type="body" idx="2"/>
          </p:nvPr>
        </p:nvSpPr>
        <p:spPr>
          <a:xfrm>
            <a:off x="559572" y="1940585"/>
            <a:ext cx="5278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Аргумент «</a:t>
            </a:r>
            <a:r>
              <a:rPr lang="ru-RU" sz="1600" i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потому что тема современная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» слишком </a:t>
            </a:r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слабый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. Важно показать изменение условий</a:t>
            </a:r>
            <a:endParaRPr lang="ru-RU" sz="1600" i="1" dirty="0">
              <a:latin typeface="Montserrat" panose="00000500000000000000" pitchFamily="2" charset="-52"/>
            </a:endParaRPr>
          </a:p>
        </p:txBody>
      </p:sp>
      <p:pic>
        <p:nvPicPr>
          <p:cNvPr id="7170" name="Picture 2" descr="Почему? — Википедия">
            <a:extLst>
              <a:ext uri="{FF2B5EF4-FFF2-40B4-BE49-F238E27FC236}">
                <a16:creationId xmlns:a16="http://schemas.microsoft.com/office/drawing/2014/main" id="{5447F371-0E9F-46DD-B0A8-4F3EB7638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375" y="1777644"/>
            <a:ext cx="3823855" cy="382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65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Связь проблематики и работы</a:t>
            </a:r>
            <a:endParaRPr dirty="0"/>
          </a:p>
        </p:txBody>
      </p:sp>
      <p:sp>
        <p:nvSpPr>
          <p:cNvPr id="9" name="Google Shape;1216;p22">
            <a:extLst>
              <a:ext uri="{FF2B5EF4-FFF2-40B4-BE49-F238E27FC236}">
                <a16:creationId xmlns:a16="http://schemas.microsoft.com/office/drawing/2014/main" id="{809A7554-43C5-4E57-B1D4-9EDB38F961CA}"/>
              </a:ext>
            </a:extLst>
          </p:cNvPr>
          <p:cNvSpPr txBox="1">
            <a:spLocks/>
          </p:cNvSpPr>
          <p:nvPr/>
        </p:nvSpPr>
        <p:spPr>
          <a:xfrm>
            <a:off x="559572" y="1747790"/>
            <a:ext cx="8271102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144145" indent="0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Не нужно </a:t>
            </a:r>
            <a:r>
              <a:rPr lang="ru-RU" sz="160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заранее </a:t>
            </a: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обещать,</a:t>
            </a:r>
            <a:r>
              <a:rPr lang="ru-RU" sz="160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что исследование полностью устранит проблему. </a:t>
            </a:r>
          </a:p>
          <a:p>
            <a:pPr marL="0" marR="144145" indent="0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Достаточно показать</a:t>
            </a:r>
            <a:r>
              <a:rPr lang="ru-RU" sz="160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, какой вклад реалистично ожидается. </a:t>
            </a:r>
          </a:p>
        </p:txBody>
      </p:sp>
      <p:pic>
        <p:nvPicPr>
          <p:cNvPr id="8194" name="Picture 2" descr="Связь – Бесплатные иконки: интерфейс">
            <a:extLst>
              <a:ext uri="{FF2B5EF4-FFF2-40B4-BE49-F238E27FC236}">
                <a16:creationId xmlns:a16="http://schemas.microsoft.com/office/drawing/2014/main" id="{BDAFC9F2-58EB-4E65-B0EB-9A5CF2E05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52" y="2608917"/>
            <a:ext cx="3207327" cy="320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22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Как писать актуальность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«Базовый минимум»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Обоснование актуальности исследования должно быть кратким и содержательным. Нет необходимости начинать его с общих рассуждений о развитии общества, науки или технологий.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sz="18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Достаточно 0,3–0,5 страницы текста, чтобы показать главное: в чем состоит проблемная ситуация, почему она требует внимания и чем обусловлен интерес к выбранной теме.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sz="18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dirty="0">
                <a:solidFill>
                  <a:srgbClr val="000000"/>
                </a:solidFill>
                <a:latin typeface="Montserrat" panose="00000500000000000000" pitchFamily="2" charset="-52"/>
              </a:rPr>
              <a:t>П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ри написании актуальности важно не доказывать значимость всей предметной области, а как можно быстрее перейти к конкретной проблеме, показать ее проявление и объяснить, почему выбранный способ ее изучения заслуживает исследовательского внимания.</a:t>
            </a:r>
          </a:p>
        </p:txBody>
      </p:sp>
    </p:spTree>
    <p:extLst>
      <p:ext uri="{BB962C8B-B14F-4D97-AF65-F5344CB8AC3E}">
        <p14:creationId xmlns:p14="http://schemas.microsoft.com/office/powerpoint/2010/main" val="2146248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05. Какими источниками подтверждать 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708325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CFB901E2-6D10-4BCA-AE62-6FC209F4C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0536"/>
              </p:ext>
            </p:extLst>
          </p:nvPr>
        </p:nvGraphicFramePr>
        <p:xfrm>
          <a:off x="1415295" y="1502687"/>
          <a:ext cx="9361410" cy="4277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470">
                  <a:extLst>
                    <a:ext uri="{9D8B030D-6E8A-4147-A177-3AD203B41FA5}">
                      <a16:colId xmlns:a16="http://schemas.microsoft.com/office/drawing/2014/main" val="1097259518"/>
                    </a:ext>
                  </a:extLst>
                </a:gridCol>
                <a:gridCol w="3120470">
                  <a:extLst>
                    <a:ext uri="{9D8B030D-6E8A-4147-A177-3AD203B41FA5}">
                      <a16:colId xmlns:a16="http://schemas.microsoft.com/office/drawing/2014/main" val="3488387453"/>
                    </a:ext>
                  </a:extLst>
                </a:gridCol>
                <a:gridCol w="3120470">
                  <a:extLst>
                    <a:ext uri="{9D8B030D-6E8A-4147-A177-3AD203B41FA5}">
                      <a16:colId xmlns:a16="http://schemas.microsoft.com/office/drawing/2014/main" val="2369070425"/>
                    </a:ext>
                  </a:extLst>
                </a:gridCol>
              </a:tblGrid>
              <a:tr h="526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Что вы хотите доказать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Какие источники особенно полезны</a:t>
                      </a:r>
                      <a:endParaRPr lang="ru-RU" sz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Как использовать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264914486"/>
                  </a:ext>
                </a:extLst>
              </a:tr>
              <a:tr h="10746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Проблема существует в практике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Отраслевые отчеты, профессиональная аналитика, статистика инцидентов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Показать масштаб, повторяемость или последствия проблемы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107539513"/>
                  </a:ext>
                </a:extLst>
              </a:tr>
              <a:tr h="8008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требования или ограничения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Стандарты, нормативные документы, технические регламенты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Показать условия, которым должно соответствовать решение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918776988"/>
                  </a:ext>
                </a:extLst>
              </a:tr>
              <a:tr h="10746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Существующие подходы имеют ограничение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Научные статьи, обзоры, сравнительные исследования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Показать, что именно уже проверено и где остаются границы применимости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17118982"/>
                  </a:ext>
                </a:extLst>
              </a:tr>
              <a:tr h="8008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Изменились технологии или условия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Новые исследования, документация, профессиональные отчеты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Показать, почему прежние выводы требуют повторной проверки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30661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246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3932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06. Типичные ошибки в актуальности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955209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Пять типичных ошибок</a:t>
            </a:r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559572" y="1793280"/>
            <a:ext cx="883381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Первая ошибка возникает, когда актуальность подменяют описанием тренда.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Вторая ошибка связана с чрезмерно широким масштабом.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Третья ошибка — заранее обещать решение проблемы.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Четвертая ошибка — строить текст из несвязанных статистических фактов.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Пятая ошибка — использовать источник не по назначению. </a:t>
            </a:r>
          </a:p>
        </p:txBody>
      </p:sp>
      <p:pic>
        <p:nvPicPr>
          <p:cNvPr id="5122" name="Picture 2" descr="Ошибки при продажах: разбираем самые распространенные и как их избежать">
            <a:extLst>
              <a:ext uri="{FF2B5EF4-FFF2-40B4-BE49-F238E27FC236}">
                <a16:creationId xmlns:a16="http://schemas.microsoft.com/office/drawing/2014/main" id="{2DC0AB8E-66D0-4AF4-86D7-F690DAAE6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025" y="3207452"/>
            <a:ext cx="4198195" cy="279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90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Самопроверка актуальности</a:t>
            </a:r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559572" y="1793280"/>
            <a:ext cx="883381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Попробуйте написать два предложения. В первом зафиксируйте устойчивую проблему, во втором - изменение условий.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Возьмите будущий абзац актуальности и после каждого предложения мысленно спросите: «И что из этого следует?» Если следующий тезис логично отвечает на этот вопрос, цепочка работает.</a:t>
            </a:r>
          </a:p>
        </p:txBody>
      </p:sp>
      <p:sp>
        <p:nvSpPr>
          <p:cNvPr id="5" name="Google Shape;1216;p22">
            <a:extLst>
              <a:ext uri="{FF2B5EF4-FFF2-40B4-BE49-F238E27FC236}">
                <a16:creationId xmlns:a16="http://schemas.microsoft.com/office/drawing/2014/main" id="{38CC08CB-D20B-444A-8A11-DB67DB033114}"/>
              </a:ext>
            </a:extLst>
          </p:cNvPr>
          <p:cNvSpPr txBox="1">
            <a:spLocks/>
          </p:cNvSpPr>
          <p:nvPr/>
        </p:nvSpPr>
        <p:spPr>
          <a:xfrm>
            <a:off x="559572" y="2553148"/>
            <a:ext cx="883381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600" b="1" i="1" dirty="0">
                <a:solidFill>
                  <a:srgbClr val="000000"/>
                </a:solidFill>
                <a:latin typeface="Montserrat" panose="00000500000000000000" pitchFamily="2" charset="-52"/>
              </a:rPr>
              <a:t>Проблема:</a:t>
            </a:r>
            <a:r>
              <a:rPr lang="ru-RU" sz="1600" i="1" dirty="0">
                <a:solidFill>
                  <a:srgbClr val="000000"/>
                </a:solidFill>
                <a:latin typeface="Montserrat" panose="00000500000000000000" pitchFamily="2" charset="-52"/>
              </a:rPr>
              <a:t> модели обнаружения фишинга зависят от характеристик обучающей выборки и могут хуже работать на новых типах сообщений. </a:t>
            </a:r>
          </a:p>
          <a:p>
            <a:pPr marL="0" indent="0"/>
            <a:r>
              <a:rPr lang="ru-RU" sz="1600" b="1" i="1" dirty="0">
                <a:solidFill>
                  <a:srgbClr val="000000"/>
                </a:solidFill>
                <a:latin typeface="Montserrat" panose="00000500000000000000" pitchFamily="2" charset="-52"/>
              </a:rPr>
              <a:t>Изменение условий: </a:t>
            </a:r>
            <a:r>
              <a:rPr lang="ru-RU" sz="1600" i="1" dirty="0">
                <a:solidFill>
                  <a:srgbClr val="000000"/>
                </a:solidFill>
                <a:latin typeface="Montserrat" panose="00000500000000000000" pitchFamily="2" charset="-52"/>
              </a:rPr>
              <a:t>генеративные языковые модели позволяют быстро создавать тексты, которые по стилю и структуре отличаются от традиционных фишинговых шаблонов.</a:t>
            </a:r>
          </a:p>
        </p:txBody>
      </p:sp>
    </p:spTree>
    <p:extLst>
      <p:ext uri="{BB962C8B-B14F-4D97-AF65-F5344CB8AC3E}">
        <p14:creationId xmlns:p14="http://schemas.microsoft.com/office/powerpoint/2010/main" val="3773883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393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07. Пример</a:t>
            </a:r>
          </a:p>
        </p:txBody>
      </p:sp>
    </p:spTree>
    <p:extLst>
      <p:ext uri="{BB962C8B-B14F-4D97-AF65-F5344CB8AC3E}">
        <p14:creationId xmlns:p14="http://schemas.microsoft.com/office/powerpoint/2010/main" val="3011156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Как слабая актуальность превращается в сильную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41633" y="1776139"/>
            <a:ext cx="883381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600" b="1" i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1. Слабая: </a:t>
            </a:r>
            <a:r>
              <a:rPr lang="ru-RU" sz="1600" b="0" i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«Фишинг является одной из распространенных угроз информационной безопасности. В последние годы активно развиваются технологии искусственного интеллекта и большие языковые модели. Они могут использоваться злоумышленниками для создания фишинговых писем. Поэтому исследование методов обнаружения таких сообщений является актуальным».</a:t>
            </a:r>
          </a:p>
        </p:txBody>
      </p:sp>
      <p:sp>
        <p:nvSpPr>
          <p:cNvPr id="4" name="Google Shape;1216;p22">
            <a:extLst>
              <a:ext uri="{FF2B5EF4-FFF2-40B4-BE49-F238E27FC236}">
                <a16:creationId xmlns:a16="http://schemas.microsoft.com/office/drawing/2014/main" id="{6F3CD086-B76D-44F1-BEEC-6696D7FC22D1}"/>
              </a:ext>
            </a:extLst>
          </p:cNvPr>
          <p:cNvSpPr txBox="1">
            <a:spLocks/>
          </p:cNvSpPr>
          <p:nvPr/>
        </p:nvSpPr>
        <p:spPr>
          <a:xfrm>
            <a:off x="641633" y="3936382"/>
            <a:ext cx="883381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600" b="1" i="1" dirty="0">
                <a:solidFill>
                  <a:srgbClr val="000000"/>
                </a:solidFill>
                <a:latin typeface="Montserrat" panose="00000500000000000000" pitchFamily="2" charset="-52"/>
              </a:rPr>
              <a:t>2. Сильная: </a:t>
            </a:r>
            <a:r>
              <a:rPr lang="ru-RU" sz="1600" i="1" dirty="0">
                <a:solidFill>
                  <a:srgbClr val="000000"/>
                </a:solidFill>
                <a:latin typeface="Montserrat" panose="00000500000000000000" pitchFamily="2" charset="-52"/>
              </a:rPr>
              <a:t>«Существующие методы обнаружения фишинговых сообщений во многом опираются на признаки, характерные для ранее собранных выборок: шаблонные формулировки, языковые ошибки и повторяющиеся конструкции. Использование генеративных языковых моделей позволяет создавать более вариативные и стилистически естественные сообщения, из-за чего качество моделей, обученных на традиционных наборах данных, может снижаться. При этом результаты исследований зависят от используемых </a:t>
            </a:r>
            <a:r>
              <a:rPr lang="ru-RU" sz="1600" i="1" dirty="0" err="1">
                <a:solidFill>
                  <a:srgbClr val="000000"/>
                </a:solidFill>
                <a:latin typeface="Montserrat" panose="00000500000000000000" pitchFamily="2" charset="-52"/>
              </a:rPr>
              <a:t>датасетов</a:t>
            </a:r>
            <a:r>
              <a:rPr lang="ru-RU" sz="1600" i="1" dirty="0">
                <a:solidFill>
                  <a:srgbClr val="000000"/>
                </a:solidFill>
                <a:latin typeface="Montserrat" panose="00000500000000000000" pitchFamily="2" charset="-52"/>
              </a:rPr>
              <a:t> и методов оценки, что затрудняет прямое сравнение подходов. Сопоставление нескольких методов в единых условиях позволит определить, какие признаки и модели устойчивее к сообщениям нового типа и где находятся ограничения их применения».</a:t>
            </a:r>
          </a:p>
        </p:txBody>
      </p:sp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2A2D212E-E433-4C3E-8A1B-629E0463E2E2}"/>
              </a:ext>
            </a:extLst>
          </p:cNvPr>
          <p:cNvSpPr/>
          <p:nvPr/>
        </p:nvSpPr>
        <p:spPr>
          <a:xfrm>
            <a:off x="4940241" y="3341626"/>
            <a:ext cx="236593" cy="467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53624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766</Words>
  <Application>Microsoft Office PowerPoint</Application>
  <PresentationFormat>Широкоэкранный</PresentationFormat>
  <Paragraphs>121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Montserrat</vt:lpstr>
      <vt:lpstr>Calibri</vt:lpstr>
      <vt:lpstr>Arial</vt:lpstr>
      <vt:lpstr>Times New Roman</vt:lpstr>
      <vt:lpstr>Шаблон МИФИ</vt:lpstr>
      <vt:lpstr>Презентация PowerPoint</vt:lpstr>
      <vt:lpstr>Презентация PowerPoint</vt:lpstr>
      <vt:lpstr>01. Как обосновать актуальность?</vt:lpstr>
      <vt:lpstr>Корректный подход</vt:lpstr>
      <vt:lpstr>02. Три уровня акутальности</vt:lpstr>
      <vt:lpstr>Три уровня актуальности</vt:lpstr>
      <vt:lpstr>Технологический уровень</vt:lpstr>
      <vt:lpstr>Практический уровень</vt:lpstr>
      <vt:lpstr>Научный уровень</vt:lpstr>
      <vt:lpstr>03. Логика сильного обоснования</vt:lpstr>
      <vt:lpstr>Четырехступенчатая логика</vt:lpstr>
      <vt:lpstr>Контекст</vt:lpstr>
      <vt:lpstr>Затруднение</vt:lpstr>
      <vt:lpstr>Почему это важно?</vt:lpstr>
      <vt:lpstr>Связь проблематики и работы</vt:lpstr>
      <vt:lpstr>04. Как писать актуальность исследования</vt:lpstr>
      <vt:lpstr>«Базовый минимум»</vt:lpstr>
      <vt:lpstr>05. Какими источниками подтверждать актуальность</vt:lpstr>
      <vt:lpstr>Презентация PowerPoint</vt:lpstr>
      <vt:lpstr>06. Типичные ошибки в актуальности</vt:lpstr>
      <vt:lpstr>Пять типичных ошибок</vt:lpstr>
      <vt:lpstr>Самопроверка актуальности</vt:lpstr>
      <vt:lpstr>07. Пример</vt:lpstr>
      <vt:lpstr>Как слабая актуальность превращается в сильную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94</cp:revision>
  <dcterms:created xsi:type="dcterms:W3CDTF">2020-05-28T16:18:16Z</dcterms:created>
  <dcterms:modified xsi:type="dcterms:W3CDTF">2026-09-29T09:44:53Z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