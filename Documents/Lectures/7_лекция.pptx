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61" r:id="rId3"/>
    <p:sldId id="266" r:id="rId4"/>
    <p:sldId id="335" r:id="rId5"/>
    <p:sldId id="350" r:id="rId6"/>
    <p:sldId id="299" r:id="rId7"/>
    <p:sldId id="336" r:id="rId8"/>
    <p:sldId id="351" r:id="rId9"/>
    <p:sldId id="303" r:id="rId10"/>
    <p:sldId id="343" r:id="rId11"/>
    <p:sldId id="348" r:id="rId12"/>
    <p:sldId id="309" r:id="rId13"/>
    <p:sldId id="342" r:id="rId14"/>
    <p:sldId id="352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-52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45qVdxuRGOLxwbrc9dap12cW+A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онстантин Некрасов" initials="КН" lastIdx="1" clrIdx="0">
    <p:extLst>
      <p:ext uri="{19B8F6BF-5375-455C-9EA6-DF929625EA0E}">
        <p15:presenceInfo xmlns:p15="http://schemas.microsoft.com/office/powerpoint/2012/main" userId="93128182c2385ea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12" y="12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59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57" Type="http://customschemas.google.com/relationships/presentationmetadata" Target="meta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1" name="Google Shape;10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latin typeface="Arial"/>
                <a:ea typeface="Arial"/>
                <a:cs typeface="Arial"/>
                <a:sym typeface="Arial"/>
              </a:rPr>
              <a:t>Титульный слайд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latin typeface="Arial"/>
                <a:ea typeface="Arial"/>
                <a:cs typeface="Arial"/>
                <a:sym typeface="Arial"/>
              </a:rPr>
              <a:t>Титульный слайд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9727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4971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402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0746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1061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3553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172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7546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037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1506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2462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2">
  <p:cSld name="Титульный слайд 2">
    <p:bg>
      <p:bgPr>
        <a:gradFill>
          <a:gsLst>
            <a:gs pos="0">
              <a:srgbClr val="91E2FE"/>
            </a:gs>
            <a:gs pos="14000">
              <a:schemeClr val="accent2"/>
            </a:gs>
            <a:gs pos="66000">
              <a:schemeClr val="accent1"/>
            </a:gs>
            <a:gs pos="100000">
              <a:schemeClr val="accent1"/>
            </a:gs>
          </a:gsLst>
          <a:lin ang="13500000" scaled="0"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6"/>
          <p:cNvSpPr txBox="1">
            <a:spLocks noGrp="1"/>
          </p:cNvSpPr>
          <p:nvPr>
            <p:ph type="body" idx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3" name="Google Shape;53;p46"/>
          <p:cNvSpPr txBox="1">
            <a:spLocks noGrp="1"/>
          </p:cNvSpPr>
          <p:nvPr>
            <p:ph type="body" idx="2"/>
          </p:nvPr>
        </p:nvSpPr>
        <p:spPr>
          <a:xfrm>
            <a:off x="560194" y="3890246"/>
            <a:ext cx="47525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4" name="Google Shape;54;p46"/>
          <p:cNvSpPr txBox="1">
            <a:spLocks noGrp="1"/>
          </p:cNvSpPr>
          <p:nvPr>
            <p:ph type="body" idx="3"/>
          </p:nvPr>
        </p:nvSpPr>
        <p:spPr>
          <a:xfrm>
            <a:off x="560194" y="3105834"/>
            <a:ext cx="823467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55" name="Google Shape;55;p46"/>
          <p:cNvGrpSpPr/>
          <p:nvPr/>
        </p:nvGrpSpPr>
        <p:grpSpPr>
          <a:xfrm>
            <a:off x="562856" y="710612"/>
            <a:ext cx="2522375" cy="1205115"/>
            <a:chOff x="562856" y="710612"/>
            <a:chExt cx="2522375" cy="1205115"/>
          </a:xfrm>
        </p:grpSpPr>
        <p:grpSp>
          <p:nvGrpSpPr>
            <p:cNvPr id="56" name="Google Shape;56;p46"/>
            <p:cNvGrpSpPr/>
            <p:nvPr/>
          </p:nvGrpSpPr>
          <p:grpSpPr>
            <a:xfrm>
              <a:off x="562856" y="710612"/>
              <a:ext cx="948024" cy="997597"/>
              <a:chOff x="562856" y="710612"/>
              <a:chExt cx="948024" cy="997597"/>
            </a:xfrm>
          </p:grpSpPr>
          <p:grpSp>
            <p:nvGrpSpPr>
              <p:cNvPr id="57" name="Google Shape;57;p46"/>
              <p:cNvGrpSpPr/>
              <p:nvPr/>
            </p:nvGrpSpPr>
            <p:grpSpPr>
              <a:xfrm>
                <a:off x="562856" y="985371"/>
                <a:ext cx="948024" cy="722838"/>
                <a:chOff x="562856" y="985371"/>
                <a:chExt cx="948024" cy="722838"/>
              </a:xfrm>
            </p:grpSpPr>
            <p:grpSp>
              <p:nvGrpSpPr>
                <p:cNvPr id="58" name="Google Shape;58;p46"/>
                <p:cNvGrpSpPr/>
                <p:nvPr/>
              </p:nvGrpSpPr>
              <p:grpSpPr>
                <a:xfrm>
                  <a:off x="562856" y="985371"/>
                  <a:ext cx="948024" cy="722838"/>
                  <a:chOff x="562856" y="985371"/>
                  <a:chExt cx="948024" cy="722838"/>
                </a:xfrm>
              </p:grpSpPr>
              <p:grpSp>
                <p:nvGrpSpPr>
                  <p:cNvPr id="59" name="Google Shape;59;p46"/>
                  <p:cNvGrpSpPr/>
                  <p:nvPr/>
                </p:nvGrpSpPr>
                <p:grpSpPr>
                  <a:xfrm>
                    <a:off x="714672" y="985371"/>
                    <a:ext cx="643294" cy="722838"/>
                    <a:chOff x="714672" y="985371"/>
                    <a:chExt cx="643294" cy="722838"/>
                  </a:xfrm>
                </p:grpSpPr>
                <p:sp>
                  <p:nvSpPr>
                    <p:cNvPr id="60" name="Google Shape;60;p46"/>
                    <p:cNvSpPr/>
                    <p:nvPr/>
                  </p:nvSpPr>
                  <p:spPr>
                    <a:xfrm>
                      <a:off x="1166997" y="1035802"/>
                      <a:ext cx="158790" cy="3066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8790" h="306640" extrusionOk="0">
                          <a:moveTo>
                            <a:pt x="50419" y="269542"/>
                          </a:moveTo>
                          <a:cubicBezTo>
                            <a:pt x="98520" y="178536"/>
                            <a:pt x="136189" y="82892"/>
                            <a:pt x="158790" y="2898"/>
                          </a:cubicBezTo>
                          <a:cubicBezTo>
                            <a:pt x="150097" y="1739"/>
                            <a:pt x="141405" y="1159"/>
                            <a:pt x="132132" y="0"/>
                          </a:cubicBezTo>
                          <a:cubicBezTo>
                            <a:pt x="110110" y="75356"/>
                            <a:pt x="74759" y="166942"/>
                            <a:pt x="27238" y="257370"/>
                          </a:cubicBezTo>
                          <a:cubicBezTo>
                            <a:pt x="18545" y="274180"/>
                            <a:pt x="9272" y="290410"/>
                            <a:pt x="0" y="306641"/>
                          </a:cubicBezTo>
                          <a:cubicBezTo>
                            <a:pt x="12749" y="302583"/>
                            <a:pt x="25499" y="297946"/>
                            <a:pt x="38249" y="293309"/>
                          </a:cubicBezTo>
                          <a:cubicBezTo>
                            <a:pt x="41726" y="285193"/>
                            <a:pt x="45783" y="277078"/>
                            <a:pt x="50419" y="26954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1" name="Google Shape;61;p46"/>
                    <p:cNvSpPr/>
                    <p:nvPr/>
                  </p:nvSpPr>
                  <p:spPr>
                    <a:xfrm>
                      <a:off x="742204" y="1094927"/>
                      <a:ext cx="154733" cy="307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733" h="307800" extrusionOk="0">
                          <a:moveTo>
                            <a:pt x="137348" y="31881"/>
                          </a:moveTo>
                          <a:cubicBezTo>
                            <a:pt x="143143" y="20868"/>
                            <a:pt x="148938" y="10434"/>
                            <a:pt x="154734" y="0"/>
                          </a:cubicBezTo>
                          <a:cubicBezTo>
                            <a:pt x="141984" y="4058"/>
                            <a:pt x="129814" y="8115"/>
                            <a:pt x="117644" y="12173"/>
                          </a:cubicBezTo>
                          <a:cubicBezTo>
                            <a:pt x="116485" y="14492"/>
                            <a:pt x="114746" y="16810"/>
                            <a:pt x="113587" y="19708"/>
                          </a:cubicBezTo>
                          <a:cubicBezTo>
                            <a:pt x="60271" y="120569"/>
                            <a:pt x="22022" y="219112"/>
                            <a:pt x="0" y="306061"/>
                          </a:cubicBezTo>
                          <a:cubicBezTo>
                            <a:pt x="8693" y="306641"/>
                            <a:pt x="17386" y="307221"/>
                            <a:pt x="26658" y="307800"/>
                          </a:cubicBezTo>
                          <a:cubicBezTo>
                            <a:pt x="48101" y="226648"/>
                            <a:pt x="84031" y="132163"/>
                            <a:pt x="137348" y="3188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62" name="Google Shape;62;p46"/>
                    <p:cNvGrpSpPr/>
                    <p:nvPr/>
                  </p:nvGrpSpPr>
                  <p:grpSpPr>
                    <a:xfrm>
                      <a:off x="714672" y="985371"/>
                      <a:ext cx="643294" cy="448657"/>
                      <a:chOff x="714672" y="985371"/>
                      <a:chExt cx="643294" cy="448657"/>
                    </a:xfrm>
                  </p:grpSpPr>
                  <p:sp>
                    <p:nvSpPr>
                      <p:cNvPr id="63" name="Google Shape;63;p46"/>
                      <p:cNvSpPr/>
                      <p:nvPr/>
                    </p:nvSpPr>
                    <p:spPr>
                      <a:xfrm>
                        <a:off x="816384" y="1253174"/>
                        <a:ext cx="323955" cy="17505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3955" h="175057" extrusionOk="0">
                            <a:moveTo>
                              <a:pt x="11591" y="0"/>
                            </a:moveTo>
                            <a:cubicBezTo>
                              <a:pt x="7534" y="9275"/>
                              <a:pt x="3477" y="18549"/>
                              <a:pt x="0" y="27824"/>
                            </a:cubicBezTo>
                            <a:cubicBezTo>
                              <a:pt x="38249" y="62024"/>
                              <a:pt x="85770" y="93905"/>
                              <a:pt x="140245" y="120570"/>
                            </a:cubicBezTo>
                            <a:cubicBezTo>
                              <a:pt x="196460" y="147814"/>
                              <a:pt x="253833" y="166363"/>
                              <a:pt x="307729" y="175058"/>
                            </a:cubicBezTo>
                            <a:cubicBezTo>
                              <a:pt x="313524" y="166943"/>
                              <a:pt x="318740" y="158248"/>
                              <a:pt x="323956" y="149553"/>
                            </a:cubicBezTo>
                            <a:cubicBezTo>
                              <a:pt x="269480" y="142597"/>
                              <a:pt x="209789" y="124048"/>
                              <a:pt x="151836" y="95644"/>
                            </a:cubicBezTo>
                            <a:cubicBezTo>
                              <a:pt x="97360" y="68980"/>
                              <a:pt x="49260" y="35359"/>
                              <a:pt x="11591" y="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64" name="Google Shape;64;p46"/>
                      <p:cNvSpPr/>
                      <p:nvPr/>
                    </p:nvSpPr>
                    <p:spPr>
                      <a:xfrm>
                        <a:off x="714672" y="985371"/>
                        <a:ext cx="643294" cy="44865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43294" h="448657" extrusionOk="0">
                            <a:moveTo>
                              <a:pt x="596628" y="211576"/>
                            </a:moveTo>
                            <a:cubicBezTo>
                              <a:pt x="553163" y="153610"/>
                              <a:pt x="483620" y="99702"/>
                              <a:pt x="401907" y="60285"/>
                            </a:cubicBezTo>
                            <a:cubicBezTo>
                              <a:pt x="322512" y="21447"/>
                              <a:pt x="239639" y="0"/>
                              <a:pt x="168357" y="0"/>
                            </a:cubicBezTo>
                            <a:cubicBezTo>
                              <a:pt x="89542" y="0"/>
                              <a:pt x="33907" y="25505"/>
                              <a:pt x="10726" y="72458"/>
                            </a:cubicBezTo>
                            <a:cubicBezTo>
                              <a:pt x="-17671" y="130424"/>
                              <a:pt x="11885" y="206359"/>
                              <a:pt x="80849" y="275919"/>
                            </a:cubicBezTo>
                            <a:cubicBezTo>
                              <a:pt x="84905" y="266644"/>
                              <a:pt x="88383" y="256790"/>
                              <a:pt x="92439" y="247515"/>
                            </a:cubicBezTo>
                            <a:cubicBezTo>
                              <a:pt x="38543" y="189549"/>
                              <a:pt x="14203" y="128105"/>
                              <a:pt x="35066" y="84631"/>
                            </a:cubicBezTo>
                            <a:cubicBezTo>
                              <a:pt x="52452" y="48692"/>
                              <a:pt x="101132" y="27824"/>
                              <a:pt x="167778" y="27824"/>
                            </a:cubicBezTo>
                            <a:cubicBezTo>
                              <a:pt x="235003" y="27824"/>
                              <a:pt x="313819" y="48112"/>
                              <a:pt x="389157" y="85210"/>
                            </a:cubicBezTo>
                            <a:cubicBezTo>
                              <a:pt x="466814" y="123468"/>
                              <a:pt x="532300" y="173898"/>
                              <a:pt x="573447" y="228387"/>
                            </a:cubicBezTo>
                            <a:cubicBezTo>
                              <a:pt x="612275" y="279976"/>
                              <a:pt x="624445" y="328088"/>
                              <a:pt x="607059" y="364027"/>
                            </a:cubicBezTo>
                            <a:cubicBezTo>
                              <a:pt x="589673" y="399966"/>
                              <a:pt x="540993" y="420834"/>
                              <a:pt x="474348" y="420834"/>
                            </a:cubicBezTo>
                            <a:cubicBezTo>
                              <a:pt x="467973" y="420834"/>
                              <a:pt x="461018" y="420254"/>
                              <a:pt x="454644" y="420254"/>
                            </a:cubicBezTo>
                            <a:cubicBezTo>
                              <a:pt x="448848" y="428949"/>
                              <a:pt x="443633" y="438224"/>
                              <a:pt x="437837" y="446919"/>
                            </a:cubicBezTo>
                            <a:cubicBezTo>
                              <a:pt x="450008" y="448078"/>
                              <a:pt x="462177" y="448658"/>
                              <a:pt x="474348" y="448658"/>
                            </a:cubicBezTo>
                            <a:cubicBezTo>
                              <a:pt x="553163" y="448658"/>
                              <a:pt x="608798" y="423153"/>
                              <a:pt x="631979" y="376200"/>
                            </a:cubicBezTo>
                            <a:cubicBezTo>
                              <a:pt x="655160" y="330407"/>
                              <a:pt x="642410" y="272441"/>
                              <a:pt x="596628" y="211576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65" name="Google Shape;65;p46"/>
                    <p:cNvSpPr/>
                    <p:nvPr/>
                  </p:nvSpPr>
                  <p:spPr>
                    <a:xfrm>
                      <a:off x="719403" y="1364470"/>
                      <a:ext cx="463821" cy="3437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3821" h="343739" extrusionOk="0">
                          <a:moveTo>
                            <a:pt x="425573" y="12753"/>
                          </a:moveTo>
                          <a:cubicBezTo>
                            <a:pt x="315462" y="191288"/>
                            <a:pt x="183330" y="317654"/>
                            <a:pt x="99878" y="317654"/>
                          </a:cubicBezTo>
                          <a:cubicBezTo>
                            <a:pt x="88867" y="317654"/>
                            <a:pt x="79015" y="315336"/>
                            <a:pt x="70323" y="310699"/>
                          </a:cubicBezTo>
                          <a:cubicBezTo>
                            <a:pt x="25119" y="286932"/>
                            <a:pt x="12949" y="194766"/>
                            <a:pt x="42505" y="64922"/>
                          </a:cubicBezTo>
                          <a:cubicBezTo>
                            <a:pt x="33233" y="64342"/>
                            <a:pt x="24540" y="63763"/>
                            <a:pt x="15847" y="63183"/>
                          </a:cubicBezTo>
                          <a:cubicBezTo>
                            <a:pt x="-14288" y="199403"/>
                            <a:pt x="-2118" y="302583"/>
                            <a:pt x="58152" y="333885"/>
                          </a:cubicBezTo>
                          <a:cubicBezTo>
                            <a:pt x="70323" y="340261"/>
                            <a:pt x="84811" y="343739"/>
                            <a:pt x="99878" y="343739"/>
                          </a:cubicBezTo>
                          <a:cubicBezTo>
                            <a:pt x="198978" y="343739"/>
                            <a:pt x="343859" y="205200"/>
                            <a:pt x="463821" y="0"/>
                          </a:cubicBezTo>
                          <a:cubicBezTo>
                            <a:pt x="451651" y="5217"/>
                            <a:pt x="438902" y="9275"/>
                            <a:pt x="425573" y="1275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66" name="Google Shape;66;p46"/>
                  <p:cNvGrpSpPr/>
                  <p:nvPr/>
                </p:nvGrpSpPr>
                <p:grpSpPr>
                  <a:xfrm>
                    <a:off x="562856" y="999863"/>
                    <a:ext cx="948024" cy="419094"/>
                    <a:chOff x="562856" y="999863"/>
                    <a:chExt cx="948024" cy="419094"/>
                  </a:xfrm>
                </p:grpSpPr>
                <p:sp>
                  <p:nvSpPr>
                    <p:cNvPr id="67" name="Google Shape;67;p46"/>
                    <p:cNvSpPr/>
                    <p:nvPr/>
                  </p:nvSpPr>
                  <p:spPr>
                    <a:xfrm>
                      <a:off x="1007048" y="1275781"/>
                      <a:ext cx="316421" cy="115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6421" h="115932" extrusionOk="0">
                          <a:moveTo>
                            <a:pt x="64328" y="84630"/>
                          </a:moveTo>
                          <a:cubicBezTo>
                            <a:pt x="42885" y="89848"/>
                            <a:pt x="21443" y="93905"/>
                            <a:pt x="0" y="97963"/>
                          </a:cubicBezTo>
                          <a:cubicBezTo>
                            <a:pt x="17386" y="104919"/>
                            <a:pt x="34192" y="110715"/>
                            <a:pt x="50998" y="115932"/>
                          </a:cubicBezTo>
                          <a:cubicBezTo>
                            <a:pt x="57373" y="114773"/>
                            <a:pt x="63748" y="113034"/>
                            <a:pt x="70123" y="111875"/>
                          </a:cubicBezTo>
                          <a:cubicBezTo>
                            <a:pt x="161108" y="91007"/>
                            <a:pt x="245719" y="61444"/>
                            <a:pt x="316422" y="26664"/>
                          </a:cubicBezTo>
                          <a:cubicBezTo>
                            <a:pt x="314683" y="17969"/>
                            <a:pt x="312365" y="9274"/>
                            <a:pt x="308888" y="0"/>
                          </a:cubicBezTo>
                          <a:cubicBezTo>
                            <a:pt x="239924" y="34200"/>
                            <a:pt x="155313" y="63763"/>
                            <a:pt x="64328" y="8463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8" name="Google Shape;68;p46"/>
                    <p:cNvSpPr/>
                    <p:nvPr/>
                  </p:nvSpPr>
                  <p:spPr>
                    <a:xfrm>
                      <a:off x="738727" y="1033483"/>
                      <a:ext cx="300774" cy="115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0774" h="115932" extrusionOk="0">
                          <a:moveTo>
                            <a:pt x="0" y="88688"/>
                          </a:moveTo>
                          <a:cubicBezTo>
                            <a:pt x="1159" y="97383"/>
                            <a:pt x="3477" y="106658"/>
                            <a:pt x="6375" y="115932"/>
                          </a:cubicBezTo>
                          <a:cubicBezTo>
                            <a:pt x="73600" y="81153"/>
                            <a:pt x="160529" y="48692"/>
                            <a:pt x="263105" y="24925"/>
                          </a:cubicBezTo>
                          <a:cubicBezTo>
                            <a:pt x="275855" y="22027"/>
                            <a:pt x="288025" y="19129"/>
                            <a:pt x="300775" y="16810"/>
                          </a:cubicBezTo>
                          <a:cubicBezTo>
                            <a:pt x="282809" y="10434"/>
                            <a:pt x="265423" y="4637"/>
                            <a:pt x="248038" y="0"/>
                          </a:cubicBezTo>
                          <a:cubicBezTo>
                            <a:pt x="152995" y="23186"/>
                            <a:pt x="68384" y="53909"/>
                            <a:pt x="0" y="8868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9" name="Google Shape;69;p46"/>
                    <p:cNvSpPr/>
                    <p:nvPr/>
                  </p:nvSpPr>
                  <p:spPr>
                    <a:xfrm>
                      <a:off x="562856" y="1136083"/>
                      <a:ext cx="442453" cy="2828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2453" h="282874" extrusionOk="0">
                          <a:moveTo>
                            <a:pt x="393773" y="245776"/>
                          </a:moveTo>
                          <a:cubicBezTo>
                            <a:pt x="346252" y="252153"/>
                            <a:pt x="299890" y="255631"/>
                            <a:pt x="257005" y="255631"/>
                          </a:cubicBezTo>
                          <a:cubicBezTo>
                            <a:pt x="127191" y="255631"/>
                            <a:pt x="39682" y="225488"/>
                            <a:pt x="28671" y="176797"/>
                          </a:cubicBezTo>
                          <a:cubicBezTo>
                            <a:pt x="19399" y="135641"/>
                            <a:pt x="66920" y="79414"/>
                            <a:pt x="157906" y="27244"/>
                          </a:cubicBezTo>
                          <a:cubicBezTo>
                            <a:pt x="154428" y="17970"/>
                            <a:pt x="152110" y="9275"/>
                            <a:pt x="150372" y="0"/>
                          </a:cubicBezTo>
                          <a:cubicBezTo>
                            <a:pt x="47216" y="57966"/>
                            <a:pt x="-11896" y="124627"/>
                            <a:pt x="2013" y="182593"/>
                          </a:cubicBezTo>
                          <a:cubicBezTo>
                            <a:pt x="17080" y="246356"/>
                            <a:pt x="109805" y="282875"/>
                            <a:pt x="257584" y="282875"/>
                          </a:cubicBezTo>
                          <a:cubicBezTo>
                            <a:pt x="314957" y="282875"/>
                            <a:pt x="378126" y="277078"/>
                            <a:pt x="442453" y="266065"/>
                          </a:cubicBezTo>
                          <a:cubicBezTo>
                            <a:pt x="425647" y="260268"/>
                            <a:pt x="409420" y="253312"/>
                            <a:pt x="393773" y="24577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70" name="Google Shape;70;p46"/>
                    <p:cNvSpPr/>
                    <p:nvPr/>
                  </p:nvSpPr>
                  <p:spPr>
                    <a:xfrm>
                      <a:off x="1041240" y="999863"/>
                      <a:ext cx="469640" cy="2886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9640" h="288671" extrusionOk="0">
                          <a:moveTo>
                            <a:pt x="467678" y="100281"/>
                          </a:moveTo>
                          <a:cubicBezTo>
                            <a:pt x="453190" y="36519"/>
                            <a:pt x="359886" y="0"/>
                            <a:pt x="212107" y="0"/>
                          </a:cubicBezTo>
                          <a:cubicBezTo>
                            <a:pt x="146620" y="0"/>
                            <a:pt x="73600" y="7536"/>
                            <a:pt x="0" y="22027"/>
                          </a:cubicBezTo>
                          <a:cubicBezTo>
                            <a:pt x="16227" y="27824"/>
                            <a:pt x="32454" y="34200"/>
                            <a:pt x="48680" y="41156"/>
                          </a:cubicBezTo>
                          <a:cubicBezTo>
                            <a:pt x="105474" y="31881"/>
                            <a:pt x="161109" y="27244"/>
                            <a:pt x="212107" y="27244"/>
                          </a:cubicBezTo>
                          <a:cubicBezTo>
                            <a:pt x="341921" y="27244"/>
                            <a:pt x="429430" y="57386"/>
                            <a:pt x="440441" y="106078"/>
                          </a:cubicBezTo>
                          <a:cubicBezTo>
                            <a:pt x="449133" y="143176"/>
                            <a:pt x="412044" y="191868"/>
                            <a:pt x="339023" y="238820"/>
                          </a:cubicBezTo>
                          <a:cubicBezTo>
                            <a:pt x="326274" y="246936"/>
                            <a:pt x="312945" y="254471"/>
                            <a:pt x="299036" y="262007"/>
                          </a:cubicBezTo>
                          <a:cubicBezTo>
                            <a:pt x="302513" y="271281"/>
                            <a:pt x="305411" y="279976"/>
                            <a:pt x="307729" y="288671"/>
                          </a:cubicBezTo>
                          <a:cubicBezTo>
                            <a:pt x="323956" y="279976"/>
                            <a:pt x="339603" y="270702"/>
                            <a:pt x="354091" y="262007"/>
                          </a:cubicBezTo>
                          <a:cubicBezTo>
                            <a:pt x="439282" y="208098"/>
                            <a:pt x="479269" y="150132"/>
                            <a:pt x="467678" y="10028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71" name="Google Shape;71;p46"/>
                <p:cNvSpPr/>
                <p:nvPr/>
              </p:nvSpPr>
              <p:spPr>
                <a:xfrm>
                  <a:off x="953731" y="1135503"/>
                  <a:ext cx="152995" cy="153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95" h="153030" extrusionOk="0">
                      <a:moveTo>
                        <a:pt x="152995" y="76515"/>
                      </a:moveTo>
                      <a:cubicBezTo>
                        <a:pt x="152995" y="118831"/>
                        <a:pt x="118803" y="153031"/>
                        <a:pt x="76498" y="153031"/>
                      </a:cubicBezTo>
                      <a:cubicBezTo>
                        <a:pt x="34192" y="153031"/>
                        <a:pt x="0" y="118831"/>
                        <a:pt x="0" y="76515"/>
                      </a:cubicBezTo>
                      <a:cubicBezTo>
                        <a:pt x="0" y="34200"/>
                        <a:pt x="34192" y="0"/>
                        <a:pt x="76498" y="0"/>
                      </a:cubicBezTo>
                      <a:cubicBezTo>
                        <a:pt x="118803" y="0"/>
                        <a:pt x="152995" y="34200"/>
                        <a:pt x="152995" y="765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72" name="Google Shape;72;p46"/>
              <p:cNvGrpSpPr/>
              <p:nvPr/>
            </p:nvGrpSpPr>
            <p:grpSpPr>
              <a:xfrm>
                <a:off x="879552" y="710612"/>
                <a:ext cx="474043" cy="360549"/>
                <a:chOff x="879552" y="710612"/>
                <a:chExt cx="474043" cy="360549"/>
              </a:xfrm>
            </p:grpSpPr>
            <p:sp>
              <p:nvSpPr>
                <p:cNvPr id="73" name="Google Shape;73;p46"/>
                <p:cNvSpPr/>
                <p:nvPr/>
              </p:nvSpPr>
              <p:spPr>
                <a:xfrm>
                  <a:off x="879552" y="1007978"/>
                  <a:ext cx="67225" cy="63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25" h="63183" extrusionOk="0">
                      <a:moveTo>
                        <a:pt x="37090" y="52170"/>
                      </a:moveTo>
                      <a:cubicBezTo>
                        <a:pt x="46942" y="35939"/>
                        <a:pt x="56794" y="19708"/>
                        <a:pt x="67225" y="4058"/>
                      </a:cubicBezTo>
                      <a:cubicBezTo>
                        <a:pt x="57373" y="2319"/>
                        <a:pt x="47521" y="1159"/>
                        <a:pt x="37669" y="0"/>
                      </a:cubicBezTo>
                      <a:cubicBezTo>
                        <a:pt x="24920" y="20288"/>
                        <a:pt x="12170" y="41156"/>
                        <a:pt x="0" y="63183"/>
                      </a:cubicBezTo>
                      <a:cubicBezTo>
                        <a:pt x="12170" y="59705"/>
                        <a:pt x="24920" y="55648"/>
                        <a:pt x="37090" y="5217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74" name="Google Shape;74;p46"/>
                <p:cNvSpPr/>
                <p:nvPr/>
              </p:nvSpPr>
              <p:spPr>
                <a:xfrm>
                  <a:off x="934607" y="710612"/>
                  <a:ext cx="418988" cy="307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988" h="307220" extrusionOk="0">
                      <a:moveTo>
                        <a:pt x="28976" y="276498"/>
                      </a:moveTo>
                      <a:cubicBezTo>
                        <a:pt x="130973" y="127525"/>
                        <a:pt x="244560" y="26664"/>
                        <a:pt x="318740" y="26664"/>
                      </a:cubicBezTo>
                      <a:cubicBezTo>
                        <a:pt x="329751" y="26664"/>
                        <a:pt x="339603" y="28983"/>
                        <a:pt x="348296" y="33620"/>
                      </a:cubicBezTo>
                      <a:cubicBezTo>
                        <a:pt x="396396" y="59125"/>
                        <a:pt x="406828" y="161726"/>
                        <a:pt x="370318" y="304322"/>
                      </a:cubicBezTo>
                      <a:cubicBezTo>
                        <a:pt x="379590" y="304902"/>
                        <a:pt x="388283" y="306061"/>
                        <a:pt x="396976" y="307221"/>
                      </a:cubicBezTo>
                      <a:cubicBezTo>
                        <a:pt x="434645" y="158248"/>
                        <a:pt x="424793" y="43475"/>
                        <a:pt x="361045" y="9854"/>
                      </a:cubicBezTo>
                      <a:cubicBezTo>
                        <a:pt x="348296" y="3478"/>
                        <a:pt x="334387" y="0"/>
                        <a:pt x="319319" y="0"/>
                      </a:cubicBezTo>
                      <a:cubicBezTo>
                        <a:pt x="232390" y="0"/>
                        <a:pt x="110110" y="106658"/>
                        <a:pt x="0" y="271861"/>
                      </a:cubicBezTo>
                      <a:cubicBezTo>
                        <a:pt x="9272" y="273021"/>
                        <a:pt x="19124" y="274760"/>
                        <a:pt x="28976" y="2764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75" name="Google Shape;75;p46"/>
            <p:cNvGrpSpPr/>
            <p:nvPr/>
          </p:nvGrpSpPr>
          <p:grpSpPr>
            <a:xfrm>
              <a:off x="1207564" y="1490836"/>
              <a:ext cx="1816817" cy="424891"/>
              <a:chOff x="1207564" y="1490836"/>
              <a:chExt cx="1816817" cy="424891"/>
            </a:xfrm>
          </p:grpSpPr>
          <p:sp>
            <p:nvSpPr>
              <p:cNvPr id="76" name="Google Shape;76;p46"/>
              <p:cNvSpPr/>
              <p:nvPr/>
            </p:nvSpPr>
            <p:spPr>
              <a:xfrm>
                <a:off x="1207564" y="1490836"/>
                <a:ext cx="416679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416679" h="424891" extrusionOk="0">
                    <a:moveTo>
                      <a:pt x="351193" y="424892"/>
                    </a:moveTo>
                    <a:lnTo>
                      <a:pt x="351193" y="122888"/>
                    </a:lnTo>
                    <a:lnTo>
                      <a:pt x="208630" y="302583"/>
                    </a:lnTo>
                    <a:lnTo>
                      <a:pt x="65486" y="122888"/>
                    </a:lnTo>
                    <a:lnTo>
                      <a:pt x="65486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38249" y="0"/>
                    </a:lnTo>
                    <a:lnTo>
                      <a:pt x="208630" y="215634"/>
                    </a:lnTo>
                    <a:lnTo>
                      <a:pt x="379011" y="0"/>
                    </a:lnTo>
                    <a:lnTo>
                      <a:pt x="416680" y="0"/>
                    </a:lnTo>
                    <a:lnTo>
                      <a:pt x="416680" y="424892"/>
                    </a:lnTo>
                    <a:lnTo>
                      <a:pt x="351193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7" name="Google Shape;77;p46"/>
              <p:cNvSpPr/>
              <p:nvPr/>
            </p:nvSpPr>
            <p:spPr>
              <a:xfrm>
                <a:off x="1678140" y="1490836"/>
                <a:ext cx="328012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328012" h="424891" extrusionOk="0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7" y="0"/>
                    </a:lnTo>
                    <a:lnTo>
                      <a:pt x="65487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8" name="Google Shape;78;p46"/>
              <p:cNvSpPr/>
              <p:nvPr/>
            </p:nvSpPr>
            <p:spPr>
              <a:xfrm>
                <a:off x="2696369" y="1490836"/>
                <a:ext cx="328012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328012" h="424891" extrusionOk="0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6" y="0"/>
                    </a:lnTo>
                    <a:lnTo>
                      <a:pt x="65486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79" name="Google Shape;79;p46"/>
            <p:cNvGrpSpPr/>
            <p:nvPr/>
          </p:nvGrpSpPr>
          <p:grpSpPr>
            <a:xfrm>
              <a:off x="2324313" y="1165066"/>
              <a:ext cx="760918" cy="184912"/>
              <a:chOff x="2324313" y="1165066"/>
              <a:chExt cx="760918" cy="184912"/>
            </a:xfrm>
          </p:grpSpPr>
          <p:sp>
            <p:nvSpPr>
              <p:cNvPr id="80" name="Google Shape;80;p46"/>
              <p:cNvSpPr/>
              <p:nvPr/>
            </p:nvSpPr>
            <p:spPr>
              <a:xfrm>
                <a:off x="2324313" y="1165066"/>
                <a:ext cx="153574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53574" h="184911" extrusionOk="0">
                    <a:moveTo>
                      <a:pt x="114746" y="184912"/>
                    </a:moveTo>
                    <a:lnTo>
                      <a:pt x="114746" y="109556"/>
                    </a:lnTo>
                    <a:lnTo>
                      <a:pt x="38828" y="109556"/>
                    </a:lnTo>
                    <a:lnTo>
                      <a:pt x="38828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74776"/>
                    </a:lnTo>
                    <a:lnTo>
                      <a:pt x="114746" y="74776"/>
                    </a:lnTo>
                    <a:lnTo>
                      <a:pt x="114746" y="0"/>
                    </a:lnTo>
                    <a:lnTo>
                      <a:pt x="153575" y="0"/>
                    </a:lnTo>
                    <a:lnTo>
                      <a:pt x="153575" y="184912"/>
                    </a:lnTo>
                    <a:lnTo>
                      <a:pt x="114746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1" name="Google Shape;81;p46"/>
              <p:cNvSpPr/>
              <p:nvPr/>
            </p:nvSpPr>
            <p:spPr>
              <a:xfrm>
                <a:off x="2521932" y="1165066"/>
                <a:ext cx="155313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55313" h="184911" extrusionOk="0">
                    <a:moveTo>
                      <a:pt x="115905" y="184912"/>
                    </a:moveTo>
                    <a:lnTo>
                      <a:pt x="115905" y="68980"/>
                    </a:lnTo>
                    <a:lnTo>
                      <a:pt x="22601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116512"/>
                    </a:lnTo>
                    <a:lnTo>
                      <a:pt x="132132" y="0"/>
                    </a:lnTo>
                    <a:lnTo>
                      <a:pt x="155313" y="0"/>
                    </a:lnTo>
                    <a:lnTo>
                      <a:pt x="155313" y="184912"/>
                    </a:lnTo>
                    <a:lnTo>
                      <a:pt x="11590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2" name="Google Shape;82;p46"/>
              <p:cNvSpPr/>
              <p:nvPr/>
            </p:nvSpPr>
            <p:spPr>
              <a:xfrm>
                <a:off x="2708539" y="1165646"/>
                <a:ext cx="155892" cy="184332"/>
              </a:xfrm>
              <a:custGeom>
                <a:avLst/>
                <a:gdLst/>
                <a:ahLst/>
                <a:cxnLst/>
                <a:rect l="l" t="t" r="r" b="b"/>
                <a:pathLst>
                  <a:path w="155892" h="184332" extrusionOk="0">
                    <a:moveTo>
                      <a:pt x="117644" y="184332"/>
                    </a:moveTo>
                    <a:lnTo>
                      <a:pt x="117644" y="139119"/>
                    </a:lnTo>
                    <a:lnTo>
                      <a:pt x="95622" y="139119"/>
                    </a:lnTo>
                    <a:cubicBezTo>
                      <a:pt x="76498" y="139698"/>
                      <a:pt x="71282" y="143756"/>
                      <a:pt x="56214" y="165783"/>
                    </a:cubicBezTo>
                    <a:lnTo>
                      <a:pt x="43465" y="184332"/>
                    </a:lnTo>
                    <a:lnTo>
                      <a:pt x="0" y="184332"/>
                    </a:lnTo>
                    <a:lnTo>
                      <a:pt x="16806" y="159986"/>
                    </a:lnTo>
                    <a:cubicBezTo>
                      <a:pt x="28976" y="142017"/>
                      <a:pt x="37669" y="132742"/>
                      <a:pt x="46362" y="127525"/>
                    </a:cubicBezTo>
                    <a:cubicBezTo>
                      <a:pt x="19704" y="117671"/>
                      <a:pt x="4057" y="96803"/>
                      <a:pt x="4057" y="69559"/>
                    </a:cubicBezTo>
                    <a:cubicBezTo>
                      <a:pt x="4057" y="30722"/>
                      <a:pt x="34192" y="0"/>
                      <a:pt x="89247" y="0"/>
                    </a:cubicBezTo>
                    <a:lnTo>
                      <a:pt x="155893" y="0"/>
                    </a:lnTo>
                    <a:lnTo>
                      <a:pt x="155893" y="184332"/>
                    </a:lnTo>
                    <a:lnTo>
                      <a:pt x="117644" y="184332"/>
                    </a:lnTo>
                    <a:close/>
                    <a:moveTo>
                      <a:pt x="85770" y="34200"/>
                    </a:moveTo>
                    <a:cubicBezTo>
                      <a:pt x="60271" y="34200"/>
                      <a:pt x="40567" y="45793"/>
                      <a:pt x="40567" y="69559"/>
                    </a:cubicBezTo>
                    <a:cubicBezTo>
                      <a:pt x="40567" y="94485"/>
                      <a:pt x="60271" y="104919"/>
                      <a:pt x="85770" y="104919"/>
                    </a:cubicBezTo>
                    <a:lnTo>
                      <a:pt x="117644" y="104919"/>
                    </a:lnTo>
                    <a:lnTo>
                      <a:pt x="117644" y="34200"/>
                    </a:lnTo>
                    <a:lnTo>
                      <a:pt x="85770" y="342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3" name="Google Shape;83;p46"/>
              <p:cNvSpPr/>
              <p:nvPr/>
            </p:nvSpPr>
            <p:spPr>
              <a:xfrm>
                <a:off x="2898624" y="1165066"/>
                <a:ext cx="186607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86607" h="184911" extrusionOk="0">
                    <a:moveTo>
                      <a:pt x="30715" y="184912"/>
                    </a:moveTo>
                    <a:lnTo>
                      <a:pt x="71282" y="118251"/>
                    </a:lnTo>
                    <a:lnTo>
                      <a:pt x="0" y="0"/>
                    </a:lnTo>
                    <a:lnTo>
                      <a:pt x="44044" y="0"/>
                    </a:lnTo>
                    <a:lnTo>
                      <a:pt x="93304" y="80573"/>
                    </a:lnTo>
                    <a:lnTo>
                      <a:pt x="142563" y="0"/>
                    </a:lnTo>
                    <a:lnTo>
                      <a:pt x="186607" y="0"/>
                    </a:lnTo>
                    <a:lnTo>
                      <a:pt x="74759" y="184912"/>
                    </a:lnTo>
                    <a:lnTo>
                      <a:pt x="3071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84" name="Google Shape;84;p46"/>
            <p:cNvSpPr/>
            <p:nvPr/>
          </p:nvSpPr>
          <p:spPr>
            <a:xfrm>
              <a:off x="2032231" y="1490836"/>
              <a:ext cx="639218" cy="423732"/>
            </a:xfrm>
            <a:custGeom>
              <a:avLst/>
              <a:gdLst/>
              <a:ahLst/>
              <a:cxnLst/>
              <a:rect l="l" t="t" r="r" b="b"/>
              <a:pathLst>
                <a:path w="639218" h="423732" extrusionOk="0">
                  <a:moveTo>
                    <a:pt x="468837" y="15071"/>
                  </a:moveTo>
                  <a:cubicBezTo>
                    <a:pt x="418418" y="15071"/>
                    <a:pt x="374954" y="41156"/>
                    <a:pt x="351773" y="78254"/>
                  </a:cubicBezTo>
                  <a:lnTo>
                    <a:pt x="351773" y="0"/>
                  </a:lnTo>
                  <a:lnTo>
                    <a:pt x="286286" y="0"/>
                  </a:lnTo>
                  <a:lnTo>
                    <a:pt x="286286" y="190709"/>
                  </a:lnTo>
                  <a:cubicBezTo>
                    <a:pt x="286286" y="256210"/>
                    <a:pt x="237606" y="303743"/>
                    <a:pt x="176176" y="303743"/>
                  </a:cubicBezTo>
                  <a:cubicBezTo>
                    <a:pt x="114167" y="303743"/>
                    <a:pt x="66066" y="256210"/>
                    <a:pt x="66066" y="190709"/>
                  </a:cubicBezTo>
                  <a:cubicBezTo>
                    <a:pt x="66066" y="125207"/>
                    <a:pt x="114746" y="77095"/>
                    <a:pt x="176176" y="77095"/>
                  </a:cubicBezTo>
                  <a:cubicBezTo>
                    <a:pt x="208630" y="77095"/>
                    <a:pt x="237606" y="90427"/>
                    <a:pt x="257890" y="113034"/>
                  </a:cubicBezTo>
                  <a:lnTo>
                    <a:pt x="257890" y="46373"/>
                  </a:lnTo>
                  <a:cubicBezTo>
                    <a:pt x="234129" y="27244"/>
                    <a:pt x="203414" y="15071"/>
                    <a:pt x="169802" y="15071"/>
                  </a:cubicBezTo>
                  <a:cubicBezTo>
                    <a:pt x="68384" y="15071"/>
                    <a:pt x="0" y="92746"/>
                    <a:pt x="0" y="190129"/>
                  </a:cubicBezTo>
                  <a:cubicBezTo>
                    <a:pt x="0" y="287512"/>
                    <a:pt x="68384" y="364607"/>
                    <a:pt x="169802" y="364607"/>
                  </a:cubicBezTo>
                  <a:cubicBezTo>
                    <a:pt x="220220" y="364607"/>
                    <a:pt x="263685" y="339102"/>
                    <a:pt x="286866" y="302004"/>
                  </a:cubicBezTo>
                  <a:lnTo>
                    <a:pt x="286866" y="423732"/>
                  </a:lnTo>
                  <a:lnTo>
                    <a:pt x="353512" y="423732"/>
                  </a:lnTo>
                  <a:lnTo>
                    <a:pt x="353512" y="180854"/>
                  </a:lnTo>
                  <a:lnTo>
                    <a:pt x="353512" y="180854"/>
                  </a:lnTo>
                  <a:cubicBezTo>
                    <a:pt x="357568" y="119990"/>
                    <a:pt x="404510" y="75936"/>
                    <a:pt x="463622" y="75936"/>
                  </a:cubicBezTo>
                  <a:cubicBezTo>
                    <a:pt x="525631" y="75936"/>
                    <a:pt x="573732" y="124048"/>
                    <a:pt x="573732" y="189549"/>
                  </a:cubicBezTo>
                  <a:cubicBezTo>
                    <a:pt x="573732" y="255051"/>
                    <a:pt x="525051" y="302583"/>
                    <a:pt x="463622" y="302583"/>
                  </a:cubicBezTo>
                  <a:cubicBezTo>
                    <a:pt x="431168" y="302583"/>
                    <a:pt x="402771" y="289251"/>
                    <a:pt x="383067" y="267804"/>
                  </a:cubicBezTo>
                  <a:lnTo>
                    <a:pt x="383067" y="335044"/>
                  </a:lnTo>
                  <a:cubicBezTo>
                    <a:pt x="406248" y="353014"/>
                    <a:pt x="436384" y="364607"/>
                    <a:pt x="469996" y="364607"/>
                  </a:cubicBezTo>
                  <a:cubicBezTo>
                    <a:pt x="570834" y="364607"/>
                    <a:pt x="639218" y="287512"/>
                    <a:pt x="639218" y="190129"/>
                  </a:cubicBezTo>
                  <a:cubicBezTo>
                    <a:pt x="638059" y="92746"/>
                    <a:pt x="569095" y="15071"/>
                    <a:pt x="468837" y="150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апка с логотипом без коня (белая)">
  <p:cSld name="Шапка с логотипом без коня (белая)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9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6" name="Google Shape;156;p49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49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8" name="Google Shape;158;p49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59" name="Google Shape;159;p49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160" name="Google Shape;160;p49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161" name="Google Shape;161;p49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162" name="Google Shape;162;p49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163" name="Google Shape;163;p49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164" name="Google Shape;164;p49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65" name="Google Shape;165;p49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166" name="Google Shape;166;p49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167" name="Google Shape;167;p49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168" name="Google Shape;168;p49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169" name="Google Shape;169;p49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170" name="Google Shape;170;p49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171" name="Google Shape;171;p49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2" name="Google Shape;172;p49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3" name="Google Shape;173;p49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4" name="Google Shape;174;p49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175" name="Google Shape;175;p49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176" name="Google Shape;176;p49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177" name="Google Shape;177;p49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178" name="Google Shape;178;p49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179" name="Google Shape;179;p49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180" name="Google Shape;180;p49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49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2" name="Google Shape;182;p49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83" name="Google Shape;183;p49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184" name="Google Shape;184;p49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5" name="Google Shape;185;p49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6" name="Google Shape;186;p49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7" name="Google Shape;187;p49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88" name="Google Shape;188;p49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Шапка с логотипом без коня (белая)">
  <p:cSld name="1_Шапка с логотипом без коня (белая)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0"/>
          <p:cNvSpPr/>
          <p:nvPr/>
        </p:nvSpPr>
        <p:spPr>
          <a:xfrm>
            <a:off x="-1" y="-2"/>
            <a:ext cx="417299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50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2549388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2" name="Google Shape;192;p50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50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4" name="Google Shape;194;p50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95" name="Google Shape;195;p50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196" name="Google Shape;196;p50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197" name="Google Shape;197;p50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198" name="Google Shape;198;p50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199" name="Google Shape;199;p50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200" name="Google Shape;200;p50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1" name="Google Shape;201;p50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202" name="Google Shape;202;p50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203" name="Google Shape;203;p50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204" name="Google Shape;204;p50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205" name="Google Shape;205;p50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206" name="Google Shape;206;p50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207" name="Google Shape;207;p50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8" name="Google Shape;208;p50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9" name="Google Shape;209;p50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10" name="Google Shape;210;p50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211" name="Google Shape;211;p50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212" name="Google Shape;212;p50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213" name="Google Shape;213;p50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214" name="Google Shape;214;p50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215" name="Google Shape;215;p50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216" name="Google Shape;216;p50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7" name="Google Shape;217;p50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8" name="Google Shape;218;p50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19" name="Google Shape;219;p50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220" name="Google Shape;220;p50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1" name="Google Shape;221;p50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2" name="Google Shape;222;p50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3" name="Google Shape;223;p50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24" name="Google Shape;224;p50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апка с атомом">
  <p:cSld name="Шапка с атомом"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4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3" name="Google Shape;993;p74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55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4" name="Google Shape;994;p74"/>
          <p:cNvPicPr preferRelativeResize="0"/>
          <p:nvPr/>
        </p:nvPicPr>
        <p:blipFill rotWithShape="1">
          <a:blip r:embed="rId2">
            <a:alphaModFix/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74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96" name="Google Shape;996;p74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97" name="Google Shape;997;p74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фон">
  <p:cSld name="Фото фон"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5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0" name="Google Shape;1000;p7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78" r:id="rId4"/>
    <p:sldLayoutId id="214748367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1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2"/>
          <p:cNvSpPr txBox="1">
            <a:spLocks noGrp="1"/>
          </p:cNvSpPr>
          <p:nvPr>
            <p:ph type="body" idx="1"/>
          </p:nvPr>
        </p:nvSpPr>
        <p:spPr>
          <a:xfrm>
            <a:off x="560194" y="5233399"/>
            <a:ext cx="7349686" cy="1355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80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800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80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5" name="Google Shape;1015;p2"/>
          <p:cNvSpPr txBox="1">
            <a:spLocks noGrp="1"/>
          </p:cNvSpPr>
          <p:nvPr>
            <p:ph type="body" idx="2"/>
          </p:nvPr>
        </p:nvSpPr>
        <p:spPr>
          <a:xfrm>
            <a:off x="560193" y="3890246"/>
            <a:ext cx="614753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ru-RU" dirty="0"/>
              <a:t>Предполагаемые авторские результаты</a:t>
            </a:r>
          </a:p>
        </p:txBody>
      </p:sp>
      <p:sp>
        <p:nvSpPr>
          <p:cNvPr id="1016" name="Google Shape;1016;p2"/>
          <p:cNvSpPr txBox="1">
            <a:spLocks noGrp="1"/>
          </p:cNvSpPr>
          <p:nvPr>
            <p:ph type="body" idx="3"/>
          </p:nvPr>
        </p:nvSpPr>
        <p:spPr>
          <a:xfrm>
            <a:off x="560195" y="3105834"/>
            <a:ext cx="55358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ru-RU" dirty="0"/>
              <a:t>НИР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6"/>
          <p:cNvPicPr preferRelativeResize="0"/>
          <p:nvPr/>
        </p:nvPicPr>
        <p:blipFill rotWithShape="1">
          <a:blip r:embed="rId3">
            <a:alphaModFix amt="45000"/>
          </a:blip>
          <a:srcRect l="38538" b="28686"/>
          <a:stretch/>
        </p:blipFill>
        <p:spPr>
          <a:xfrm>
            <a:off x="0" y="2683359"/>
            <a:ext cx="3424263" cy="4174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6"/>
          <p:cNvSpPr txBox="1"/>
          <p:nvPr/>
        </p:nvSpPr>
        <p:spPr>
          <a:xfrm>
            <a:off x="3548552" y="759532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6"/>
          <p:cNvSpPr txBox="1"/>
          <p:nvPr/>
        </p:nvSpPr>
        <p:spPr>
          <a:xfrm>
            <a:off x="4362208" y="1190812"/>
            <a:ext cx="489685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Предполагаемый авторский результат</a:t>
            </a:r>
            <a:endParaRPr lang="ru-RU" dirty="0"/>
          </a:p>
        </p:txBody>
      </p:sp>
      <p:sp>
        <p:nvSpPr>
          <p:cNvPr id="1063" name="Google Shape;1063;p6"/>
          <p:cNvSpPr txBox="1"/>
          <p:nvPr/>
        </p:nvSpPr>
        <p:spPr>
          <a:xfrm>
            <a:off x="3548552" y="1494445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4" name="Google Shape;1064;p6"/>
          <p:cNvSpPr txBox="1"/>
          <p:nvPr/>
        </p:nvSpPr>
        <p:spPr>
          <a:xfrm>
            <a:off x="4362208" y="1925725"/>
            <a:ext cx="489685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Как прогнозировать результаты до проведения исследования</a:t>
            </a:r>
            <a:endParaRPr lang="ru-RU" dirty="0"/>
          </a:p>
        </p:txBody>
      </p:sp>
      <p:sp>
        <p:nvSpPr>
          <p:cNvPr id="1065" name="Google Shape;1065;p6"/>
          <p:cNvSpPr txBox="1"/>
          <p:nvPr/>
        </p:nvSpPr>
        <p:spPr>
          <a:xfrm>
            <a:off x="3548552" y="2229358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1066" name="Google Shape;1066;p6"/>
          <p:cNvSpPr txBox="1"/>
          <p:nvPr/>
        </p:nvSpPr>
        <p:spPr>
          <a:xfrm>
            <a:off x="4362208" y="2660638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Теоретическая значимость</a:t>
            </a:r>
            <a:endParaRPr lang="ru-RU" dirty="0"/>
          </a:p>
        </p:txBody>
      </p:sp>
      <p:sp>
        <p:nvSpPr>
          <p:cNvPr id="1067" name="Google Shape;1067;p6"/>
          <p:cNvSpPr txBox="1"/>
          <p:nvPr/>
        </p:nvSpPr>
        <p:spPr>
          <a:xfrm>
            <a:off x="3548552" y="2964271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id="1068" name="Google Shape;1068;p6"/>
          <p:cNvSpPr txBox="1"/>
          <p:nvPr/>
        </p:nvSpPr>
        <p:spPr>
          <a:xfrm>
            <a:off x="4362208" y="3395551"/>
            <a:ext cx="489685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Практическая значимость</a:t>
            </a:r>
            <a:endParaRPr lang="ru-RU" dirty="0"/>
          </a:p>
        </p:txBody>
      </p:sp>
      <p:sp>
        <p:nvSpPr>
          <p:cNvPr id="1075" name="Google Shape;1075;p6"/>
          <p:cNvSpPr txBox="1"/>
          <p:nvPr/>
        </p:nvSpPr>
        <p:spPr>
          <a:xfrm>
            <a:off x="559572" y="359101"/>
            <a:ext cx="30667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План занятия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609581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01. Предполагаемый авторский результат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Не что вы сделаете, а что должно появиться</a:t>
            </a:r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59572" y="3911718"/>
            <a:ext cx="458153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b="1" dirty="0"/>
              <a:t>Задача: </a:t>
            </a:r>
            <a:r>
              <a:rPr lang="ru-RU" dirty="0"/>
              <a:t>«Сравнить три метода обнаружения LLM-сгенерированного фишинга по единой системе метрик».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ru-RU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b="1" dirty="0"/>
              <a:t>Предполагаемый результат:</a:t>
            </a:r>
            <a:r>
              <a:rPr lang="ru-RU" dirty="0"/>
              <a:t> «Будут получены сопоставимые оценки качества трех методов и определены условия, при которых их характеристики различаются».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70304BF6-619A-49E2-9CA2-9F790B72D746}"/>
              </a:ext>
            </a:extLst>
          </p:cNvPr>
          <p:cNvSpPr/>
          <p:nvPr/>
        </p:nvSpPr>
        <p:spPr>
          <a:xfrm>
            <a:off x="665017" y="1938201"/>
            <a:ext cx="3689571" cy="122698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Montserrat" panose="00000500000000000000" pitchFamily="2" charset="-52"/>
              </a:rPr>
              <a:t>Задача описывает действие исследователя. 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77FE43A-AF60-4BC8-BEDE-382F54C6D3DF}"/>
              </a:ext>
            </a:extLst>
          </p:cNvPr>
          <p:cNvSpPr/>
          <p:nvPr/>
        </p:nvSpPr>
        <p:spPr>
          <a:xfrm>
            <a:off x="5243413" y="1938201"/>
            <a:ext cx="3689572" cy="12668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Montserrat" panose="00000500000000000000" pitchFamily="2" charset="-52"/>
              </a:rPr>
              <a:t>Предполагаемый авторский результат описывает тот новый для вашей работы результат, который должен быть получен и проверен.</a:t>
            </a:r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id="{25875831-1B10-42D3-A3D4-ADB34F36E32C}"/>
              </a:ext>
            </a:extLst>
          </p:cNvPr>
          <p:cNvSpPr/>
          <p:nvPr/>
        </p:nvSpPr>
        <p:spPr>
          <a:xfrm>
            <a:off x="4603970" y="2365930"/>
            <a:ext cx="434820" cy="3964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Google Shape;1127;p13">
            <a:extLst>
              <a:ext uri="{FF2B5EF4-FFF2-40B4-BE49-F238E27FC236}">
                <a16:creationId xmlns:a16="http://schemas.microsoft.com/office/drawing/2014/main" id="{8721C021-B309-406B-B5C8-FE959A1513DF}"/>
              </a:ext>
            </a:extLst>
          </p:cNvPr>
          <p:cNvSpPr txBox="1">
            <a:spLocks/>
          </p:cNvSpPr>
          <p:nvPr/>
        </p:nvSpPr>
        <p:spPr>
          <a:xfrm>
            <a:off x="5475804" y="3911717"/>
            <a:ext cx="458153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b="1" dirty="0"/>
              <a:t>Задача: </a:t>
            </a:r>
            <a:r>
              <a:rPr lang="ru-RU" dirty="0"/>
              <a:t>«Разработать алгоритм </a:t>
            </a:r>
            <a:r>
              <a:rPr lang="ru-RU" dirty="0" err="1"/>
              <a:t>приоритизации</a:t>
            </a:r>
            <a:r>
              <a:rPr lang="ru-RU" dirty="0"/>
              <a:t> событий безопасности». </a:t>
            </a:r>
          </a:p>
          <a:p>
            <a:pPr marL="0" indent="0"/>
            <a:endParaRPr lang="ru-RU" dirty="0"/>
          </a:p>
          <a:p>
            <a:pPr marL="0" indent="0"/>
            <a:endParaRPr lang="ru-RU" dirty="0"/>
          </a:p>
          <a:p>
            <a:pPr marL="0" indent="0"/>
            <a:r>
              <a:rPr lang="ru-RU" b="1" dirty="0"/>
              <a:t>Предполагаемый результат: </a:t>
            </a:r>
            <a:r>
              <a:rPr lang="ru-RU" dirty="0"/>
              <a:t>«Будет разработан алгоритм расчета приоритета события на основе набора признаков риска и правил их агрегирования».</a:t>
            </a:r>
          </a:p>
        </p:txBody>
      </p:sp>
    </p:spTree>
    <p:extLst>
      <p:ext uri="{BB962C8B-B14F-4D97-AF65-F5344CB8AC3E}">
        <p14:creationId xmlns:p14="http://schemas.microsoft.com/office/powerpoint/2010/main" val="1710868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Не что вы сделаете, а что должно появиться</a:t>
            </a:r>
          </a:p>
        </p:txBody>
      </p:sp>
      <p:graphicFrame>
        <p:nvGraphicFramePr>
          <p:cNvPr id="7" name="Таблица 8">
            <a:extLst>
              <a:ext uri="{FF2B5EF4-FFF2-40B4-BE49-F238E27FC236}">
                <a16:creationId xmlns:a16="http://schemas.microsoft.com/office/drawing/2014/main" id="{0076C0C6-C43A-413B-9BAA-F1E0F9AAA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646859"/>
              </p:ext>
            </p:extLst>
          </p:nvPr>
        </p:nvGraphicFramePr>
        <p:xfrm>
          <a:off x="618838" y="1128908"/>
          <a:ext cx="10737627" cy="5476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9209">
                  <a:extLst>
                    <a:ext uri="{9D8B030D-6E8A-4147-A177-3AD203B41FA5}">
                      <a16:colId xmlns:a16="http://schemas.microsoft.com/office/drawing/2014/main" val="2275299266"/>
                    </a:ext>
                  </a:extLst>
                </a:gridCol>
                <a:gridCol w="3579209">
                  <a:extLst>
                    <a:ext uri="{9D8B030D-6E8A-4147-A177-3AD203B41FA5}">
                      <a16:colId xmlns:a16="http://schemas.microsoft.com/office/drawing/2014/main" val="1943568298"/>
                    </a:ext>
                  </a:extLst>
                </a:gridCol>
                <a:gridCol w="3579209">
                  <a:extLst>
                    <a:ext uri="{9D8B030D-6E8A-4147-A177-3AD203B41FA5}">
                      <a16:colId xmlns:a16="http://schemas.microsoft.com/office/drawing/2014/main" val="3638955219"/>
                    </a:ext>
                  </a:extLst>
                </a:gridCol>
              </a:tblGrid>
              <a:tr h="4078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Тип предполагаемого результата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Что именно прогнозируется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Как понять, что результат действительно получен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1361632"/>
                  </a:ext>
                </a:extLst>
              </a:tr>
              <a:tr h="617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 / алгоритм</a:t>
                      </a:r>
                      <a:endParaRPr lang="ru-RU" sz="1400" dirty="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Принцип или формальные правила решения задачи, входы, выходы и условия работы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Можно воспроизвести логику метода и проверить результат на заданных данных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8943252"/>
                  </a:ext>
                </a:extLst>
              </a:tr>
              <a:tr h="7742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Методика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Воспроизводимая процедура применения методов в конкретных условиях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Определены этапы, данные, инструменты, правила принятия решений и критерии оценки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572636"/>
                  </a:ext>
                </a:extLst>
              </a:tr>
              <a:tr h="617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Модель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Формализованное представление объекта, процесса или связи между параметрами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Модель построена и проверена на соответствие данным или поставленной задаче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7780349"/>
                  </a:ext>
                </a:extLst>
              </a:tr>
              <a:tr h="617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Программный прототип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Реализация исследовательской идеи, необходимая для ее проверки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Прототип позволяет провести заявленный эксперимент или апробацию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1110455"/>
                  </a:ext>
                </a:extLst>
              </a:tr>
              <a:tr h="617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 критериев / показателей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Обоснованный набор характеристик и правила их использования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Показано, откуда взялись критерии и как они работают в сравнении или оценке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5153456"/>
                  </a:ext>
                </a:extLst>
              </a:tr>
              <a:tr h="8278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Экспериментальный результат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Сравнительные данные, выявленная зависимость, установленные условия или ограничения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Вывод можно получить из проведенного эксперимента и используемых метрик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8242719"/>
                  </a:ext>
                </a:extLst>
              </a:tr>
              <a:tr h="617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Рекомендации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Выводы о применении решения в определенных условиях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Рекомендации напрямую опираются на полученные данные, а не на общие соображения</a:t>
                      </a:r>
                      <a:endParaRPr lang="ru-RU" sz="1400" dirty="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6118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904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353805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02. Как прогнозировать результаты до проведения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83539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Некорректные постановки </a:t>
            </a:r>
            <a:endParaRPr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EC33B68A-A5B7-4B2C-A5AF-4089F0E11D17}"/>
              </a:ext>
            </a:extLst>
          </p:cNvPr>
          <p:cNvSpPr/>
          <p:nvPr/>
        </p:nvSpPr>
        <p:spPr>
          <a:xfrm>
            <a:off x="6044844" y="1406699"/>
            <a:ext cx="4282120" cy="23812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Некорректно:</a:t>
            </a: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«Будет доказано, что метод А эффективнее метода Б». До эксперимента этого неизвестно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3D9924-3345-40A7-A361-BD25138CBE61}"/>
              </a:ext>
            </a:extLst>
          </p:cNvPr>
          <p:cNvSpPr/>
          <p:nvPr/>
        </p:nvSpPr>
        <p:spPr>
          <a:xfrm>
            <a:off x="877397" y="1406699"/>
            <a:ext cx="4282120" cy="23761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Некорректно:</a:t>
            </a: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«Разработанное веб-приложение повысит взаимопонимание партнеров»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B8C95B2-8D66-46EF-80CD-836B555215A6}"/>
              </a:ext>
            </a:extLst>
          </p:cNvPr>
          <p:cNvSpPr/>
          <p:nvPr/>
        </p:nvSpPr>
        <p:spPr>
          <a:xfrm>
            <a:off x="877397" y="4312394"/>
            <a:ext cx="4282120" cy="237615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Корректно:</a:t>
            </a: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«Будут получены сравнительные оценки методов А и Б по единой системе метрик и определены условия, при которых различается качество их работы»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C0B34B7-C94D-44FA-BD12-1A8F9C47FF61}"/>
              </a:ext>
            </a:extLst>
          </p:cNvPr>
          <p:cNvSpPr/>
          <p:nvPr/>
        </p:nvSpPr>
        <p:spPr>
          <a:xfrm>
            <a:off x="6096000" y="4312394"/>
            <a:ext cx="4282120" cy="237615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Корректно:</a:t>
            </a: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«Будет разработан и апробирован способ визуализации изменений </a:t>
            </a:r>
            <a:r>
              <a:rPr lang="ru-RU" sz="1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самооцененного</a:t>
            </a: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эмоционального состояния; по результатам апробации будет оценена его воспринимаемая полезность для интерпретации повторяющихся изменений»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Стрелка: вниз 2">
            <a:extLst>
              <a:ext uri="{FF2B5EF4-FFF2-40B4-BE49-F238E27FC236}">
                <a16:creationId xmlns:a16="http://schemas.microsoft.com/office/drawing/2014/main" id="{19E5A0B2-B22E-4084-8370-91175FA67452}"/>
              </a:ext>
            </a:extLst>
          </p:cNvPr>
          <p:cNvSpPr/>
          <p:nvPr/>
        </p:nvSpPr>
        <p:spPr>
          <a:xfrm>
            <a:off x="2765878" y="3910144"/>
            <a:ext cx="380170" cy="3293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: вниз 14">
            <a:extLst>
              <a:ext uri="{FF2B5EF4-FFF2-40B4-BE49-F238E27FC236}">
                <a16:creationId xmlns:a16="http://schemas.microsoft.com/office/drawing/2014/main" id="{34F7C5FA-BA5A-46BE-9327-CA0FD14D3108}"/>
              </a:ext>
            </a:extLst>
          </p:cNvPr>
          <p:cNvSpPr/>
          <p:nvPr/>
        </p:nvSpPr>
        <p:spPr>
          <a:xfrm>
            <a:off x="8148603" y="3910143"/>
            <a:ext cx="380170" cy="3293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82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Фиксация получения результата</a:t>
            </a:r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59572" y="2773514"/>
            <a:ext cx="1082732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sz="2000" dirty="0"/>
              <a:t>Задача </a:t>
            </a:r>
            <a:r>
              <a:rPr lang="ru-RU" sz="2000" b="1" dirty="0"/>
              <a:t>→</a:t>
            </a:r>
            <a:r>
              <a:rPr lang="ru-RU" sz="2000" dirty="0"/>
              <a:t> предполагаемый результат </a:t>
            </a:r>
            <a:r>
              <a:rPr lang="ru-RU" sz="2000" b="1" dirty="0"/>
              <a:t>→</a:t>
            </a:r>
            <a:r>
              <a:rPr lang="ru-RU" sz="2000" dirty="0"/>
              <a:t> авторский вклад </a:t>
            </a:r>
            <a:r>
              <a:rPr lang="ru-RU" sz="2000" b="1" dirty="0"/>
              <a:t>→</a:t>
            </a:r>
            <a:r>
              <a:rPr lang="ru-RU" sz="2000" dirty="0"/>
              <a:t> способ проверки</a:t>
            </a:r>
          </a:p>
        </p:txBody>
      </p:sp>
    </p:spTree>
    <p:extLst>
      <p:ext uri="{BB962C8B-B14F-4D97-AF65-F5344CB8AC3E}">
        <p14:creationId xmlns:p14="http://schemas.microsoft.com/office/powerpoint/2010/main" val="760523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411355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03. Теоретическая значимость</a:t>
            </a:r>
          </a:p>
        </p:txBody>
      </p:sp>
    </p:spTree>
    <p:extLst>
      <p:ext uri="{BB962C8B-B14F-4D97-AF65-F5344CB8AC3E}">
        <p14:creationId xmlns:p14="http://schemas.microsoft.com/office/powerpoint/2010/main" val="2377667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Теоретическая значимость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77987" y="1238857"/>
            <a:ext cx="940368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b="1" dirty="0"/>
              <a:t>Теоретическая значимость </a:t>
            </a:r>
            <a:r>
              <a:rPr lang="ru-RU" dirty="0"/>
              <a:t>показывает, что предполагаемый результат может уточнить, дополнить, систематизировать, сопоставить или объяснить в существующем знании о проблеме.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5B0E005-ED41-4F6D-8CD2-32F9E86143E9}"/>
              </a:ext>
            </a:extLst>
          </p:cNvPr>
          <p:cNvSpPr/>
          <p:nvPr/>
        </p:nvSpPr>
        <p:spPr>
          <a:xfrm>
            <a:off x="559572" y="2240923"/>
            <a:ext cx="4965194" cy="39808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Тема: 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«Сравнительная оценка методов обнаружения LLM-сгенерированного фишинга». </a:t>
            </a:r>
          </a:p>
          <a:p>
            <a:endParaRPr lang="ru-RU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Предполагаемый результат: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сопоставимые оценки нескольких методов на едином наборе данных. </a:t>
            </a:r>
          </a:p>
          <a:p>
            <a:endParaRPr lang="ru-RU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Теоретическая значимость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может состоять в уточнении представлений об устойчивости этих методов к сообщениям нового типа и в определении условий, при которых качество отдельных подходов снижается.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D93D781-4AEF-4AA4-BDC8-5846BF8EA38B}"/>
              </a:ext>
            </a:extLst>
          </p:cNvPr>
          <p:cNvSpPr/>
          <p:nvPr/>
        </p:nvSpPr>
        <p:spPr>
          <a:xfrm>
            <a:off x="6326260" y="2240923"/>
            <a:ext cx="4965194" cy="39808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Тема: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«Оценка методов обнаружения дрейфа данных». </a:t>
            </a:r>
          </a:p>
          <a:p>
            <a:endParaRPr lang="ru-RU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Предполагаемый результат: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сопоставление момента появления сигнала дрейфа с фактической деградацией качества модели. </a:t>
            </a:r>
          </a:p>
          <a:p>
            <a:endParaRPr lang="ru-RU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Теоретическая значимость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может состоять в уточнении связи между типом дрейфа, чувствительностью детектора и моментом снижения качества модели.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892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Теоретическая значимость</a:t>
            </a:r>
            <a:endParaRPr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E7EEEFB4-1AF5-4A28-B685-406590C6C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434983"/>
              </p:ext>
            </p:extLst>
          </p:nvPr>
        </p:nvGraphicFramePr>
        <p:xfrm>
          <a:off x="644413" y="1634065"/>
          <a:ext cx="10059822" cy="3027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911">
                  <a:extLst>
                    <a:ext uri="{9D8B030D-6E8A-4147-A177-3AD203B41FA5}">
                      <a16:colId xmlns:a16="http://schemas.microsoft.com/office/drawing/2014/main" val="3714715827"/>
                    </a:ext>
                  </a:extLst>
                </a:gridCol>
                <a:gridCol w="5029911">
                  <a:extLst>
                    <a:ext uri="{9D8B030D-6E8A-4147-A177-3AD203B41FA5}">
                      <a16:colId xmlns:a16="http://schemas.microsoft.com/office/drawing/2014/main" val="4290270003"/>
                    </a:ext>
                  </a:extLst>
                </a:gridCol>
              </a:tblGrid>
              <a:tr h="34913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Формулировка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Почему она сильная или слабая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4739512"/>
                  </a:ext>
                </a:extLst>
              </a:tr>
              <a:tr h="4175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«Результаты расширят знания в области машинного обучения»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Слишком широко: невозможно понять, какое знание изменится</a:t>
                      </a:r>
                      <a:endParaRPr lang="ru-RU" sz="1400" dirty="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8474384"/>
                  </a:ext>
                </a:extLst>
              </a:tr>
              <a:tr h="4175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«Будут сравнены методы обнаружения дрейфа данных»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Появляется объект результата, но пока не показано, что именно даст сравнение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9381924"/>
                  </a:ext>
                </a:extLst>
              </a:tr>
              <a:tr h="6324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«Будут сопоставлены методы обнаружения дрейфа в единых экспериментальных условиях»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Появляется собственная исследовательская конструкция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3987639"/>
                  </a:ext>
                </a:extLst>
              </a:tr>
              <a:tr h="11588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«Теоретическая значимость предполагаемых результатов состоит в уточнении сравнительных характеристик методов и выявлении связи между моментом сигнала дрейфа и фактической деградацией качества модели»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Показано, какое именно понимание проблемы должно стать точнее</a:t>
                      </a:r>
                      <a:endParaRPr lang="ru-RU" sz="1400" dirty="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6351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629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04. Практическая значимость</a:t>
            </a:r>
          </a:p>
        </p:txBody>
      </p:sp>
    </p:spTree>
    <p:extLst>
      <p:ext uri="{BB962C8B-B14F-4D97-AF65-F5344CB8AC3E}">
        <p14:creationId xmlns:p14="http://schemas.microsoft.com/office/powerpoint/2010/main" val="2486550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Практическая значимость </a:t>
            </a:r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641930" y="1200490"/>
            <a:ext cx="950599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b="1" dirty="0"/>
              <a:t>Практическая значимость </a:t>
            </a:r>
            <a:r>
              <a:rPr lang="ru-RU" dirty="0"/>
              <a:t>показывает, кто сможет использовать предполагаемый результат, где, для какой задачи, какой эффект ожидается и в каких условиях применимость уже обоснована.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F240E5C-C648-4A17-8CD2-54630AA9C4DC}"/>
              </a:ext>
            </a:extLst>
          </p:cNvPr>
          <p:cNvSpPr/>
          <p:nvPr/>
        </p:nvSpPr>
        <p:spPr>
          <a:xfrm>
            <a:off x="641929" y="2149215"/>
            <a:ext cx="8892129" cy="20710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latin typeface="Montserrat" panose="00000500000000000000" pitchFamily="2" charset="-52"/>
              </a:rPr>
              <a:t>Слабая формулировка: </a:t>
            </a:r>
            <a:r>
              <a:rPr lang="ru-RU" dirty="0">
                <a:latin typeface="Montserrat" panose="00000500000000000000" pitchFamily="2" charset="-52"/>
              </a:rPr>
              <a:t>«Алгоритм может использоваться специалистами по информационной безопасности».</a:t>
            </a:r>
          </a:p>
          <a:p>
            <a:endParaRPr lang="ru-RU" dirty="0">
              <a:latin typeface="Montserrat" panose="00000500000000000000" pitchFamily="2" charset="-52"/>
            </a:endParaRPr>
          </a:p>
          <a:p>
            <a:r>
              <a:rPr lang="ru-RU" b="1" dirty="0">
                <a:latin typeface="Montserrat" panose="00000500000000000000" pitchFamily="2" charset="-52"/>
              </a:rPr>
              <a:t>Точнее: </a:t>
            </a:r>
            <a:r>
              <a:rPr lang="ru-RU" dirty="0">
                <a:latin typeface="Montserrat" panose="00000500000000000000" pitchFamily="2" charset="-52"/>
              </a:rPr>
              <a:t>«Предполагается, что алгоритм может использоваться аналитиками малого SOC для предварительного ранжирования событий безопасности перед ручным анализом. </a:t>
            </a:r>
          </a:p>
          <a:p>
            <a:endParaRPr lang="ru-RU" dirty="0">
              <a:latin typeface="Montserrat" panose="00000500000000000000" pitchFamily="2" charset="-52"/>
            </a:endParaRPr>
          </a:p>
          <a:p>
            <a:r>
              <a:rPr lang="ru-RU" dirty="0">
                <a:latin typeface="Montserrat" panose="00000500000000000000" pitchFamily="2" charset="-52"/>
              </a:rPr>
              <a:t>Ожидаемый эффект состоит в сокращении доли низкоприоритетных событий в очереди аналитика при сохранении заданного уровня обнаружения значимых событий».</a:t>
            </a:r>
          </a:p>
        </p:txBody>
      </p:sp>
    </p:spTree>
    <p:extLst>
      <p:ext uri="{BB962C8B-B14F-4D97-AF65-F5344CB8AC3E}">
        <p14:creationId xmlns:p14="http://schemas.microsoft.com/office/powerpoint/2010/main" val="3910325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Уточнение формулировки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F240E5C-C648-4A17-8CD2-54630AA9C4DC}"/>
              </a:ext>
            </a:extLst>
          </p:cNvPr>
          <p:cNvSpPr/>
          <p:nvPr/>
        </p:nvSpPr>
        <p:spPr>
          <a:xfrm>
            <a:off x="559572" y="1554535"/>
            <a:ext cx="8892129" cy="20710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-52"/>
              </a:rPr>
              <a:t>В заявке: </a:t>
            </a:r>
            <a:r>
              <a:rPr lang="ru-RU" dirty="0">
                <a:latin typeface="Montserrat" panose="00000500000000000000" pitchFamily="2" charset="-52"/>
              </a:rPr>
              <a:t>«Методика может использоваться </a:t>
            </a:r>
            <a:r>
              <a:rPr lang="ru-RU" dirty="0" err="1">
                <a:latin typeface="Montserrat" panose="00000500000000000000" pitchFamily="2" charset="-52"/>
              </a:rPr>
              <a:t>DevSecOps</a:t>
            </a:r>
            <a:r>
              <a:rPr lang="ru-RU" dirty="0">
                <a:latin typeface="Montserrat" panose="00000500000000000000" pitchFamily="2" charset="-52"/>
              </a:rPr>
              <a:t>-командами для выбора политики запуска SAST».</a:t>
            </a:r>
          </a:p>
          <a:p>
            <a:endParaRPr lang="ru-RU" dirty="0">
              <a:latin typeface="Montserrat" panose="00000500000000000000" pitchFamily="2" charset="-52"/>
            </a:endParaRPr>
          </a:p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-52"/>
              </a:rPr>
              <a:t>После апробации</a:t>
            </a:r>
            <a:r>
              <a:rPr lang="ru-RU" b="1" dirty="0">
                <a:latin typeface="Montserrat" panose="00000500000000000000" pitchFamily="2" charset="-52"/>
              </a:rPr>
              <a:t>:</a:t>
            </a:r>
            <a:r>
              <a:rPr lang="ru-RU" dirty="0">
                <a:latin typeface="Montserrat" panose="00000500000000000000" pitchFamily="2" charset="-52"/>
              </a:rPr>
              <a:t> «Методика апробирована на тестовом CI/CD-конвейере и позволяет сопоставлять политики по трем группам показателей».</a:t>
            </a:r>
          </a:p>
          <a:p>
            <a:endParaRPr lang="ru-RU" dirty="0">
              <a:latin typeface="Montserrat" panose="00000500000000000000" pitchFamily="2" charset="-52"/>
            </a:endParaRPr>
          </a:p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-52"/>
              </a:rPr>
              <a:t>После реального внедрения</a:t>
            </a:r>
            <a:r>
              <a:rPr lang="ru-RU" dirty="0">
                <a:latin typeface="Montserrat" panose="00000500000000000000" pitchFamily="2" charset="-52"/>
              </a:rPr>
              <a:t>, если оно состоялось: «Методика используется в процессе настройки SAST в компании; по результатам внедрения зафиксировано...».</a:t>
            </a:r>
          </a:p>
        </p:txBody>
      </p:sp>
    </p:spTree>
    <p:extLst>
      <p:ext uri="{BB962C8B-B14F-4D97-AF65-F5344CB8AC3E}">
        <p14:creationId xmlns:p14="http://schemas.microsoft.com/office/powerpoint/2010/main" val="3237710448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4">
      <a:dk1>
        <a:srgbClr val="171616"/>
      </a:dk1>
      <a:lt1>
        <a:srgbClr val="FFFFFF"/>
      </a:lt1>
      <a:dk2>
        <a:srgbClr val="0055BB"/>
      </a:dk2>
      <a:lt2>
        <a:srgbClr val="00B1EB"/>
      </a:lt2>
      <a:accent1>
        <a:srgbClr val="0055BB"/>
      </a:accent1>
      <a:accent2>
        <a:srgbClr val="00B1EB"/>
      </a:accent2>
      <a:accent3>
        <a:srgbClr val="FF7300"/>
      </a:accent3>
      <a:accent4>
        <a:srgbClr val="656A79"/>
      </a:accent4>
      <a:accent5>
        <a:srgbClr val="86888C"/>
      </a:accent5>
      <a:accent6>
        <a:srgbClr val="DDDEDE"/>
      </a:accent6>
      <a:hlink>
        <a:srgbClr val="00BBEE"/>
      </a:hlink>
      <a:folHlink>
        <a:srgbClr val="00BBE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775</Words>
  <Application>Microsoft Office PowerPoint</Application>
  <PresentationFormat>Широкоэкранный</PresentationFormat>
  <Paragraphs>104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Calibri</vt:lpstr>
      <vt:lpstr>Montserrat</vt:lpstr>
      <vt:lpstr>Arial</vt:lpstr>
      <vt:lpstr>Times New Roman</vt:lpstr>
      <vt:lpstr>Шаблон МИФИ</vt:lpstr>
      <vt:lpstr>Презентация PowerPoint</vt:lpstr>
      <vt:lpstr>Презентация PowerPoint</vt:lpstr>
      <vt:lpstr>01. Предполагаемый авторский результат</vt:lpstr>
      <vt:lpstr>Не что вы сделаете, а что должно появиться</vt:lpstr>
      <vt:lpstr>Не что вы сделаете, а что должно появиться</vt:lpstr>
      <vt:lpstr>02. Как прогнозировать результаты до проведения исследования</vt:lpstr>
      <vt:lpstr>Некорректные постановки </vt:lpstr>
      <vt:lpstr>Фиксация получения результата</vt:lpstr>
      <vt:lpstr>03. Теоретическая значимость</vt:lpstr>
      <vt:lpstr>Теоретическая значимость</vt:lpstr>
      <vt:lpstr>Теоретическая значимость</vt:lpstr>
      <vt:lpstr>04. Практическая значимость</vt:lpstr>
      <vt:lpstr>Практическая значимость </vt:lpstr>
      <vt:lpstr>Уточнение формулировки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Константин Некрасов</cp:lastModifiedBy>
  <cp:revision>163</cp:revision>
  <dcterms:created xsi:type="dcterms:W3CDTF">2020-05-28T16:18:16Z</dcterms:created>
  <dcterms:modified xsi:type="dcterms:W3CDTF">2026-10-23T06:28:02Z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