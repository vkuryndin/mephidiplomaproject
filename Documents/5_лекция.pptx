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61" r:id="rId3"/>
    <p:sldId id="266" r:id="rId4"/>
    <p:sldId id="268" r:id="rId5"/>
    <p:sldId id="335" r:id="rId6"/>
    <p:sldId id="299" r:id="rId7"/>
    <p:sldId id="334" r:id="rId8"/>
    <p:sldId id="336" r:id="rId9"/>
    <p:sldId id="303" r:id="rId10"/>
    <p:sldId id="304" r:id="rId11"/>
    <p:sldId id="337" r:id="rId12"/>
    <p:sldId id="338" r:id="rId13"/>
    <p:sldId id="309" r:id="rId14"/>
    <p:sldId id="310" r:id="rId15"/>
    <p:sldId id="339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-52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i45qVdxuRGOLxwbrc9dap12cW+A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онстантин Некрасов" initials="КН" lastIdx="1" clrIdx="0">
    <p:extLst>
      <p:ext uri="{19B8F6BF-5375-455C-9EA6-DF929625EA0E}">
        <p15:presenceInfo xmlns:p15="http://schemas.microsoft.com/office/powerpoint/2012/main" userId="93128182c2385ea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12" y="1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57" Type="http://customschemas.google.com/relationships/presentationmetadata" Target="meta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1" name="Google Shape;10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9727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402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0946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0746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3553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2130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2252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9861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037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1885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7894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2">
  <p:cSld name="Титульный слайд 2">
    <p:bg>
      <p:bgPr>
        <a:gradFill>
          <a:gsLst>
            <a:gs pos="0">
              <a:srgbClr val="91E2FE"/>
            </a:gs>
            <a:gs pos="14000">
              <a:schemeClr val="accent2"/>
            </a:gs>
            <a:gs pos="66000">
              <a:schemeClr val="accent1"/>
            </a:gs>
            <a:gs pos="100000">
              <a:schemeClr val="accent1"/>
            </a:gs>
          </a:gsLst>
          <a:lin ang="13500000" scaled="0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>
            <a:spLocks noGrp="1"/>
          </p:cNvSpPr>
          <p:nvPr>
            <p:ph type="body" idx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46"/>
          <p:cNvSpPr txBox="1">
            <a:spLocks noGrp="1"/>
          </p:cNvSpPr>
          <p:nvPr>
            <p:ph type="body" idx="2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4" name="Google Shape;54;p46"/>
          <p:cNvSpPr txBox="1">
            <a:spLocks noGrp="1"/>
          </p:cNvSpPr>
          <p:nvPr>
            <p:ph type="body" idx="3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5" name="Google Shape;55;p46"/>
          <p:cNvGrpSpPr/>
          <p:nvPr/>
        </p:nvGrpSpPr>
        <p:grpSpPr>
          <a:xfrm>
            <a:off x="562856" y="710612"/>
            <a:ext cx="2522375" cy="1205115"/>
            <a:chOff x="562856" y="710612"/>
            <a:chExt cx="2522375" cy="1205115"/>
          </a:xfrm>
        </p:grpSpPr>
        <p:grpSp>
          <p:nvGrpSpPr>
            <p:cNvPr id="56" name="Google Shape;56;p46"/>
            <p:cNvGrpSpPr/>
            <p:nvPr/>
          </p:nvGrpSpPr>
          <p:grpSpPr>
            <a:xfrm>
              <a:off x="562856" y="710612"/>
              <a:ext cx="948024" cy="997597"/>
              <a:chOff x="562856" y="710612"/>
              <a:chExt cx="948024" cy="997597"/>
            </a:xfrm>
          </p:grpSpPr>
          <p:grpSp>
            <p:nvGrpSpPr>
              <p:cNvPr id="57" name="Google Shape;57;p46"/>
              <p:cNvGrpSpPr/>
              <p:nvPr/>
            </p:nvGrpSpPr>
            <p:grpSpPr>
              <a:xfrm>
                <a:off x="562856" y="985371"/>
                <a:ext cx="948024" cy="722838"/>
                <a:chOff x="562856" y="985371"/>
                <a:chExt cx="948024" cy="722838"/>
              </a:xfrm>
            </p:grpSpPr>
            <p:grpSp>
              <p:nvGrpSpPr>
                <p:cNvPr id="58" name="Google Shape;58;p46"/>
                <p:cNvGrpSpPr/>
                <p:nvPr/>
              </p:nvGrpSpPr>
              <p:grpSpPr>
                <a:xfrm>
                  <a:off x="562856" y="985371"/>
                  <a:ext cx="948024" cy="722838"/>
                  <a:chOff x="562856" y="985371"/>
                  <a:chExt cx="948024" cy="722838"/>
                </a:xfrm>
              </p:grpSpPr>
              <p:grpSp>
                <p:nvGrpSpPr>
                  <p:cNvPr id="59" name="Google Shape;59;p46"/>
                  <p:cNvGrpSpPr/>
                  <p:nvPr/>
                </p:nvGrpSpPr>
                <p:grpSpPr>
                  <a:xfrm>
                    <a:off x="714672" y="985371"/>
                    <a:ext cx="643294" cy="722838"/>
                    <a:chOff x="714672" y="985371"/>
                    <a:chExt cx="643294" cy="722838"/>
                  </a:xfrm>
                </p:grpSpPr>
                <p:sp>
                  <p:nvSpPr>
                    <p:cNvPr id="60" name="Google Shape;60;p46"/>
                    <p:cNvSpPr/>
                    <p:nvPr/>
                  </p:nvSpPr>
                  <p:spPr>
                    <a:xfrm>
                      <a:off x="1166997" y="1035802"/>
                      <a:ext cx="158790" cy="3066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8790" h="306640" extrusionOk="0">
                          <a:moveTo>
                            <a:pt x="50419" y="269542"/>
                          </a:moveTo>
                          <a:cubicBezTo>
                            <a:pt x="98520" y="178536"/>
                            <a:pt x="136189" y="82892"/>
                            <a:pt x="158790" y="2898"/>
                          </a:cubicBezTo>
                          <a:cubicBezTo>
                            <a:pt x="150097" y="1739"/>
                            <a:pt x="141405" y="1159"/>
                            <a:pt x="132132" y="0"/>
                          </a:cubicBezTo>
                          <a:cubicBezTo>
                            <a:pt x="110110" y="75356"/>
                            <a:pt x="74759" y="166942"/>
                            <a:pt x="27238" y="257370"/>
                          </a:cubicBezTo>
                          <a:cubicBezTo>
                            <a:pt x="18545" y="274180"/>
                            <a:pt x="9272" y="290410"/>
                            <a:pt x="0" y="306641"/>
                          </a:cubicBezTo>
                          <a:cubicBezTo>
                            <a:pt x="12749" y="302583"/>
                            <a:pt x="25499" y="297946"/>
                            <a:pt x="38249" y="293309"/>
                          </a:cubicBezTo>
                          <a:cubicBezTo>
                            <a:pt x="41726" y="285193"/>
                            <a:pt x="45783" y="277078"/>
                            <a:pt x="50419" y="26954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1" name="Google Shape;61;p46"/>
                    <p:cNvSpPr/>
                    <p:nvPr/>
                  </p:nvSpPr>
                  <p:spPr>
                    <a:xfrm>
                      <a:off x="742204" y="1094927"/>
                      <a:ext cx="154733" cy="307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733" h="307800" extrusionOk="0">
                          <a:moveTo>
                            <a:pt x="137348" y="31881"/>
                          </a:moveTo>
                          <a:cubicBezTo>
                            <a:pt x="143143" y="20868"/>
                            <a:pt x="148938" y="10434"/>
                            <a:pt x="154734" y="0"/>
                          </a:cubicBezTo>
                          <a:cubicBezTo>
                            <a:pt x="141984" y="4058"/>
                            <a:pt x="129814" y="8115"/>
                            <a:pt x="117644" y="12173"/>
                          </a:cubicBezTo>
                          <a:cubicBezTo>
                            <a:pt x="116485" y="14492"/>
                            <a:pt x="114746" y="16810"/>
                            <a:pt x="113587" y="19708"/>
                          </a:cubicBezTo>
                          <a:cubicBezTo>
                            <a:pt x="60271" y="120569"/>
                            <a:pt x="22022" y="219112"/>
                            <a:pt x="0" y="306061"/>
                          </a:cubicBezTo>
                          <a:cubicBezTo>
                            <a:pt x="8693" y="306641"/>
                            <a:pt x="17386" y="307221"/>
                            <a:pt x="26658" y="307800"/>
                          </a:cubicBezTo>
                          <a:cubicBezTo>
                            <a:pt x="48101" y="226648"/>
                            <a:pt x="84031" y="132163"/>
                            <a:pt x="137348" y="318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62" name="Google Shape;62;p46"/>
                    <p:cNvGrpSpPr/>
                    <p:nvPr/>
                  </p:nvGrpSpPr>
                  <p:grpSpPr>
                    <a:xfrm>
                      <a:off x="714672" y="985371"/>
                      <a:ext cx="643294" cy="448657"/>
                      <a:chOff x="714672" y="985371"/>
                      <a:chExt cx="643294" cy="448657"/>
                    </a:xfrm>
                  </p:grpSpPr>
                  <p:sp>
                    <p:nvSpPr>
                      <p:cNvPr id="63" name="Google Shape;63;p46"/>
                      <p:cNvSpPr/>
                      <p:nvPr/>
                    </p:nvSpPr>
                    <p:spPr>
                      <a:xfrm>
                        <a:off x="816384" y="1253174"/>
                        <a:ext cx="323955" cy="1750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3955" h="175057" extrusionOk="0">
                            <a:moveTo>
                              <a:pt x="11591" y="0"/>
                            </a:moveTo>
                            <a:cubicBezTo>
                              <a:pt x="7534" y="9275"/>
                              <a:pt x="3477" y="18549"/>
                              <a:pt x="0" y="27824"/>
                            </a:cubicBezTo>
                            <a:cubicBezTo>
                              <a:pt x="38249" y="62024"/>
                              <a:pt x="85770" y="93905"/>
                              <a:pt x="140245" y="120570"/>
                            </a:cubicBezTo>
                            <a:cubicBezTo>
                              <a:pt x="196460" y="147814"/>
                              <a:pt x="253833" y="166363"/>
                              <a:pt x="307729" y="175058"/>
                            </a:cubicBezTo>
                            <a:cubicBezTo>
                              <a:pt x="313524" y="166943"/>
                              <a:pt x="318740" y="158248"/>
                              <a:pt x="323956" y="149553"/>
                            </a:cubicBezTo>
                            <a:cubicBezTo>
                              <a:pt x="269480" y="142597"/>
                              <a:pt x="209789" y="124048"/>
                              <a:pt x="151836" y="95644"/>
                            </a:cubicBezTo>
                            <a:cubicBezTo>
                              <a:pt x="97360" y="68980"/>
                              <a:pt x="49260" y="35359"/>
                              <a:pt x="11591" y="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64" name="Google Shape;64;p46"/>
                      <p:cNvSpPr/>
                      <p:nvPr/>
                    </p:nvSpPr>
                    <p:spPr>
                      <a:xfrm>
                        <a:off x="714672" y="985371"/>
                        <a:ext cx="643294" cy="4486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3294" h="448657" extrusionOk="0">
                            <a:moveTo>
                              <a:pt x="596628" y="211576"/>
                            </a:moveTo>
                            <a:cubicBezTo>
                              <a:pt x="553163" y="153610"/>
                              <a:pt x="483620" y="99702"/>
                              <a:pt x="401907" y="60285"/>
                            </a:cubicBezTo>
                            <a:cubicBezTo>
                              <a:pt x="322512" y="21447"/>
                              <a:pt x="239639" y="0"/>
                              <a:pt x="168357" y="0"/>
                            </a:cubicBezTo>
                            <a:cubicBezTo>
                              <a:pt x="89542" y="0"/>
                              <a:pt x="33907" y="25505"/>
                              <a:pt x="10726" y="72458"/>
                            </a:cubicBezTo>
                            <a:cubicBezTo>
                              <a:pt x="-17671" y="130424"/>
                              <a:pt x="11885" y="206359"/>
                              <a:pt x="80849" y="275919"/>
                            </a:cubicBezTo>
                            <a:cubicBezTo>
                              <a:pt x="84905" y="266644"/>
                              <a:pt x="88383" y="256790"/>
                              <a:pt x="92439" y="247515"/>
                            </a:cubicBezTo>
                            <a:cubicBezTo>
                              <a:pt x="38543" y="189549"/>
                              <a:pt x="14203" y="128105"/>
                              <a:pt x="35066" y="84631"/>
                            </a:cubicBezTo>
                            <a:cubicBezTo>
                              <a:pt x="52452" y="48692"/>
                              <a:pt x="101132" y="27824"/>
                              <a:pt x="167778" y="27824"/>
                            </a:cubicBezTo>
                            <a:cubicBezTo>
                              <a:pt x="235003" y="27824"/>
                              <a:pt x="313819" y="48112"/>
                              <a:pt x="389157" y="85210"/>
                            </a:cubicBezTo>
                            <a:cubicBezTo>
                              <a:pt x="466814" y="123468"/>
                              <a:pt x="532300" y="173898"/>
                              <a:pt x="573447" y="228387"/>
                            </a:cubicBezTo>
                            <a:cubicBezTo>
                              <a:pt x="612275" y="279976"/>
                              <a:pt x="624445" y="328088"/>
                              <a:pt x="607059" y="364027"/>
                            </a:cubicBezTo>
                            <a:cubicBezTo>
                              <a:pt x="589673" y="399966"/>
                              <a:pt x="540993" y="420834"/>
                              <a:pt x="474348" y="420834"/>
                            </a:cubicBezTo>
                            <a:cubicBezTo>
                              <a:pt x="467973" y="420834"/>
                              <a:pt x="461018" y="420254"/>
                              <a:pt x="454644" y="420254"/>
                            </a:cubicBezTo>
                            <a:cubicBezTo>
                              <a:pt x="448848" y="428949"/>
                              <a:pt x="443633" y="438224"/>
                              <a:pt x="437837" y="446919"/>
                            </a:cubicBezTo>
                            <a:cubicBezTo>
                              <a:pt x="450008" y="448078"/>
                              <a:pt x="462177" y="448658"/>
                              <a:pt x="474348" y="448658"/>
                            </a:cubicBezTo>
                            <a:cubicBezTo>
                              <a:pt x="553163" y="448658"/>
                              <a:pt x="608798" y="423153"/>
                              <a:pt x="631979" y="376200"/>
                            </a:cubicBezTo>
                            <a:cubicBezTo>
                              <a:pt x="655160" y="330407"/>
                              <a:pt x="642410" y="272441"/>
                              <a:pt x="596628" y="2115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65" name="Google Shape;65;p46"/>
                    <p:cNvSpPr/>
                    <p:nvPr/>
                  </p:nvSpPr>
                  <p:spPr>
                    <a:xfrm>
                      <a:off x="719403" y="1364470"/>
                      <a:ext cx="463821" cy="3437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3821" h="343739" extrusionOk="0">
                          <a:moveTo>
                            <a:pt x="425573" y="12753"/>
                          </a:moveTo>
                          <a:cubicBezTo>
                            <a:pt x="315462" y="191288"/>
                            <a:pt x="183330" y="317654"/>
                            <a:pt x="99878" y="317654"/>
                          </a:cubicBezTo>
                          <a:cubicBezTo>
                            <a:pt x="88867" y="317654"/>
                            <a:pt x="79015" y="315336"/>
                            <a:pt x="70323" y="310699"/>
                          </a:cubicBezTo>
                          <a:cubicBezTo>
                            <a:pt x="25119" y="286932"/>
                            <a:pt x="12949" y="194766"/>
                            <a:pt x="42505" y="64922"/>
                          </a:cubicBezTo>
                          <a:cubicBezTo>
                            <a:pt x="33233" y="64342"/>
                            <a:pt x="24540" y="63763"/>
                            <a:pt x="15847" y="63183"/>
                          </a:cubicBezTo>
                          <a:cubicBezTo>
                            <a:pt x="-14288" y="199403"/>
                            <a:pt x="-2118" y="302583"/>
                            <a:pt x="58152" y="333885"/>
                          </a:cubicBezTo>
                          <a:cubicBezTo>
                            <a:pt x="70323" y="340261"/>
                            <a:pt x="84811" y="343739"/>
                            <a:pt x="99878" y="343739"/>
                          </a:cubicBezTo>
                          <a:cubicBezTo>
                            <a:pt x="198978" y="343739"/>
                            <a:pt x="343859" y="205200"/>
                            <a:pt x="463821" y="0"/>
                          </a:cubicBezTo>
                          <a:cubicBezTo>
                            <a:pt x="451651" y="5217"/>
                            <a:pt x="438902" y="9275"/>
                            <a:pt x="425573" y="1275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66" name="Google Shape;66;p46"/>
                  <p:cNvGrpSpPr/>
                  <p:nvPr/>
                </p:nvGrpSpPr>
                <p:grpSpPr>
                  <a:xfrm>
                    <a:off x="562856" y="999863"/>
                    <a:ext cx="948024" cy="419094"/>
                    <a:chOff x="562856" y="999863"/>
                    <a:chExt cx="948024" cy="419094"/>
                  </a:xfrm>
                </p:grpSpPr>
                <p:sp>
                  <p:nvSpPr>
                    <p:cNvPr id="67" name="Google Shape;67;p46"/>
                    <p:cNvSpPr/>
                    <p:nvPr/>
                  </p:nvSpPr>
                  <p:spPr>
                    <a:xfrm>
                      <a:off x="1007048" y="1275781"/>
                      <a:ext cx="316421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6421" h="115932" extrusionOk="0">
                          <a:moveTo>
                            <a:pt x="64328" y="84630"/>
                          </a:moveTo>
                          <a:cubicBezTo>
                            <a:pt x="42885" y="89848"/>
                            <a:pt x="21443" y="93905"/>
                            <a:pt x="0" y="97963"/>
                          </a:cubicBezTo>
                          <a:cubicBezTo>
                            <a:pt x="17386" y="104919"/>
                            <a:pt x="34192" y="110715"/>
                            <a:pt x="50998" y="115932"/>
                          </a:cubicBezTo>
                          <a:cubicBezTo>
                            <a:pt x="57373" y="114773"/>
                            <a:pt x="63748" y="113034"/>
                            <a:pt x="70123" y="111875"/>
                          </a:cubicBezTo>
                          <a:cubicBezTo>
                            <a:pt x="161108" y="91007"/>
                            <a:pt x="245719" y="61444"/>
                            <a:pt x="316422" y="26664"/>
                          </a:cubicBezTo>
                          <a:cubicBezTo>
                            <a:pt x="314683" y="17969"/>
                            <a:pt x="312365" y="9274"/>
                            <a:pt x="308888" y="0"/>
                          </a:cubicBezTo>
                          <a:cubicBezTo>
                            <a:pt x="239924" y="34200"/>
                            <a:pt x="155313" y="63763"/>
                            <a:pt x="64328" y="8463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8" name="Google Shape;68;p46"/>
                    <p:cNvSpPr/>
                    <p:nvPr/>
                  </p:nvSpPr>
                  <p:spPr>
                    <a:xfrm>
                      <a:off x="738727" y="1033483"/>
                      <a:ext cx="300774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0774" h="115932" extrusionOk="0">
                          <a:moveTo>
                            <a:pt x="0" y="88688"/>
                          </a:moveTo>
                          <a:cubicBezTo>
                            <a:pt x="1159" y="97383"/>
                            <a:pt x="3477" y="106658"/>
                            <a:pt x="6375" y="115932"/>
                          </a:cubicBezTo>
                          <a:cubicBezTo>
                            <a:pt x="73600" y="81153"/>
                            <a:pt x="160529" y="48692"/>
                            <a:pt x="263105" y="24925"/>
                          </a:cubicBezTo>
                          <a:cubicBezTo>
                            <a:pt x="275855" y="22027"/>
                            <a:pt x="288025" y="19129"/>
                            <a:pt x="300775" y="16810"/>
                          </a:cubicBezTo>
                          <a:cubicBezTo>
                            <a:pt x="282809" y="10434"/>
                            <a:pt x="265423" y="4637"/>
                            <a:pt x="248038" y="0"/>
                          </a:cubicBezTo>
                          <a:cubicBezTo>
                            <a:pt x="152995" y="23186"/>
                            <a:pt x="68384" y="53909"/>
                            <a:pt x="0" y="8868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9" name="Google Shape;69;p46"/>
                    <p:cNvSpPr/>
                    <p:nvPr/>
                  </p:nvSpPr>
                  <p:spPr>
                    <a:xfrm>
                      <a:off x="562856" y="1136083"/>
                      <a:ext cx="442453" cy="282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2453" h="282874" extrusionOk="0">
                          <a:moveTo>
                            <a:pt x="393773" y="245776"/>
                          </a:moveTo>
                          <a:cubicBezTo>
                            <a:pt x="346252" y="252153"/>
                            <a:pt x="299890" y="255631"/>
                            <a:pt x="257005" y="255631"/>
                          </a:cubicBezTo>
                          <a:cubicBezTo>
                            <a:pt x="127191" y="255631"/>
                            <a:pt x="39682" y="225488"/>
                            <a:pt x="28671" y="176797"/>
                          </a:cubicBezTo>
                          <a:cubicBezTo>
                            <a:pt x="19399" y="135641"/>
                            <a:pt x="66920" y="79414"/>
                            <a:pt x="157906" y="27244"/>
                          </a:cubicBezTo>
                          <a:cubicBezTo>
                            <a:pt x="154428" y="17970"/>
                            <a:pt x="152110" y="9275"/>
                            <a:pt x="150372" y="0"/>
                          </a:cubicBezTo>
                          <a:cubicBezTo>
                            <a:pt x="47216" y="57966"/>
                            <a:pt x="-11896" y="124627"/>
                            <a:pt x="2013" y="182593"/>
                          </a:cubicBezTo>
                          <a:cubicBezTo>
                            <a:pt x="17080" y="246356"/>
                            <a:pt x="109805" y="282875"/>
                            <a:pt x="257584" y="282875"/>
                          </a:cubicBezTo>
                          <a:cubicBezTo>
                            <a:pt x="314957" y="282875"/>
                            <a:pt x="378126" y="277078"/>
                            <a:pt x="442453" y="266065"/>
                          </a:cubicBezTo>
                          <a:cubicBezTo>
                            <a:pt x="425647" y="260268"/>
                            <a:pt x="409420" y="253312"/>
                            <a:pt x="393773" y="24577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70" name="Google Shape;70;p46"/>
                    <p:cNvSpPr/>
                    <p:nvPr/>
                  </p:nvSpPr>
                  <p:spPr>
                    <a:xfrm>
                      <a:off x="1041240" y="999863"/>
                      <a:ext cx="469640" cy="2886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640" h="288671" extrusionOk="0">
                          <a:moveTo>
                            <a:pt x="467678" y="100281"/>
                          </a:moveTo>
                          <a:cubicBezTo>
                            <a:pt x="453190" y="36519"/>
                            <a:pt x="359886" y="0"/>
                            <a:pt x="212107" y="0"/>
                          </a:cubicBezTo>
                          <a:cubicBezTo>
                            <a:pt x="146620" y="0"/>
                            <a:pt x="73600" y="7536"/>
                            <a:pt x="0" y="22027"/>
                          </a:cubicBezTo>
                          <a:cubicBezTo>
                            <a:pt x="16227" y="27824"/>
                            <a:pt x="32454" y="34200"/>
                            <a:pt x="48680" y="41156"/>
                          </a:cubicBezTo>
                          <a:cubicBezTo>
                            <a:pt x="105474" y="31881"/>
                            <a:pt x="161109" y="27244"/>
                            <a:pt x="212107" y="27244"/>
                          </a:cubicBezTo>
                          <a:cubicBezTo>
                            <a:pt x="341921" y="27244"/>
                            <a:pt x="429430" y="57386"/>
                            <a:pt x="440441" y="106078"/>
                          </a:cubicBezTo>
                          <a:cubicBezTo>
                            <a:pt x="449133" y="143176"/>
                            <a:pt x="412044" y="191868"/>
                            <a:pt x="339023" y="238820"/>
                          </a:cubicBezTo>
                          <a:cubicBezTo>
                            <a:pt x="326274" y="246936"/>
                            <a:pt x="312945" y="254471"/>
                            <a:pt x="299036" y="262007"/>
                          </a:cubicBezTo>
                          <a:cubicBezTo>
                            <a:pt x="302513" y="271281"/>
                            <a:pt x="305411" y="279976"/>
                            <a:pt x="307729" y="288671"/>
                          </a:cubicBezTo>
                          <a:cubicBezTo>
                            <a:pt x="323956" y="279976"/>
                            <a:pt x="339603" y="270702"/>
                            <a:pt x="354091" y="262007"/>
                          </a:cubicBezTo>
                          <a:cubicBezTo>
                            <a:pt x="439282" y="208098"/>
                            <a:pt x="479269" y="150132"/>
                            <a:pt x="467678" y="1002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71" name="Google Shape;71;p46"/>
                <p:cNvSpPr/>
                <p:nvPr/>
              </p:nvSpPr>
              <p:spPr>
                <a:xfrm>
                  <a:off x="953731" y="1135503"/>
                  <a:ext cx="152995" cy="153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95" h="153030" extrusionOk="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72" name="Google Shape;72;p46"/>
              <p:cNvGrpSpPr/>
              <p:nvPr/>
            </p:nvGrpSpPr>
            <p:grpSpPr>
              <a:xfrm>
                <a:off x="879552" y="710612"/>
                <a:ext cx="474043" cy="360549"/>
                <a:chOff x="879552" y="710612"/>
                <a:chExt cx="474043" cy="360549"/>
              </a:xfrm>
            </p:grpSpPr>
            <p:sp>
              <p:nvSpPr>
                <p:cNvPr id="73" name="Google Shape;73;p46"/>
                <p:cNvSpPr/>
                <p:nvPr/>
              </p:nvSpPr>
              <p:spPr>
                <a:xfrm>
                  <a:off x="879552" y="1007978"/>
                  <a:ext cx="67225" cy="63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25" h="63183" extrusionOk="0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4" name="Google Shape;74;p46"/>
                <p:cNvSpPr/>
                <p:nvPr/>
              </p:nvSpPr>
              <p:spPr>
                <a:xfrm>
                  <a:off x="934607" y="710612"/>
                  <a:ext cx="418988" cy="307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88" h="307220" extrusionOk="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75" name="Google Shape;75;p46"/>
            <p:cNvGrpSpPr/>
            <p:nvPr/>
          </p:nvGrpSpPr>
          <p:grpSpPr>
            <a:xfrm>
              <a:off x="1207564" y="1490836"/>
              <a:ext cx="1816817" cy="424891"/>
              <a:chOff x="1207564" y="1490836"/>
              <a:chExt cx="1816817" cy="424891"/>
            </a:xfrm>
          </p:grpSpPr>
          <p:sp>
            <p:nvSpPr>
              <p:cNvPr id="76" name="Google Shape;76;p46"/>
              <p:cNvSpPr/>
              <p:nvPr/>
            </p:nvSpPr>
            <p:spPr>
              <a:xfrm>
                <a:off x="1207564" y="1490836"/>
                <a:ext cx="416679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416679" h="424891" extrusionOk="0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7" name="Google Shape;77;p46"/>
              <p:cNvSpPr/>
              <p:nvPr/>
            </p:nvSpPr>
            <p:spPr>
              <a:xfrm>
                <a:off x="1678140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8" name="Google Shape;78;p46"/>
              <p:cNvSpPr/>
              <p:nvPr/>
            </p:nvSpPr>
            <p:spPr>
              <a:xfrm>
                <a:off x="2696369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79" name="Google Shape;79;p46"/>
            <p:cNvGrpSpPr/>
            <p:nvPr/>
          </p:nvGrpSpPr>
          <p:grpSpPr>
            <a:xfrm>
              <a:off x="2324313" y="1165066"/>
              <a:ext cx="760918" cy="184912"/>
              <a:chOff x="2324313" y="1165066"/>
              <a:chExt cx="760918" cy="184912"/>
            </a:xfrm>
          </p:grpSpPr>
          <p:sp>
            <p:nvSpPr>
              <p:cNvPr id="80" name="Google Shape;80;p46"/>
              <p:cNvSpPr/>
              <p:nvPr/>
            </p:nvSpPr>
            <p:spPr>
              <a:xfrm>
                <a:off x="2324313" y="1165066"/>
                <a:ext cx="153574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3574" h="184911" extrusionOk="0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1" name="Google Shape;81;p46"/>
              <p:cNvSpPr/>
              <p:nvPr/>
            </p:nvSpPr>
            <p:spPr>
              <a:xfrm>
                <a:off x="2521932" y="1165066"/>
                <a:ext cx="155313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5313" h="184911" extrusionOk="0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2" name="Google Shape;82;p46"/>
              <p:cNvSpPr/>
              <p:nvPr/>
            </p:nvSpPr>
            <p:spPr>
              <a:xfrm>
                <a:off x="2708539" y="1165646"/>
                <a:ext cx="155892" cy="184332"/>
              </a:xfrm>
              <a:custGeom>
                <a:avLst/>
                <a:gdLst/>
                <a:ahLst/>
                <a:cxnLst/>
                <a:rect l="l" t="t" r="r" b="b"/>
                <a:pathLst>
                  <a:path w="155892" h="184332" extrusionOk="0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3" name="Google Shape;83;p46"/>
              <p:cNvSpPr/>
              <p:nvPr/>
            </p:nvSpPr>
            <p:spPr>
              <a:xfrm>
                <a:off x="2898624" y="1165066"/>
                <a:ext cx="186607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86607" h="184911" extrusionOk="0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84" name="Google Shape;84;p46"/>
            <p:cNvSpPr/>
            <p:nvPr/>
          </p:nvSpPr>
          <p:spPr>
            <a:xfrm>
              <a:off x="2032231" y="1490836"/>
              <a:ext cx="639218" cy="423732"/>
            </a:xfrm>
            <a:custGeom>
              <a:avLst/>
              <a:gdLst/>
              <a:ahLst/>
              <a:cxnLst/>
              <a:rect l="l" t="t" r="r" b="b"/>
              <a:pathLst>
                <a:path w="639218" h="423732" extrusionOk="0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логотипом без коня (белая)">
  <p:cSld name="Шапка с логотипом без коня (белая)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6" name="Google Shape;156;p49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49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8" name="Google Shape;158;p49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59" name="Google Shape;159;p49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60" name="Google Shape;160;p49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61" name="Google Shape;161;p49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62" name="Google Shape;162;p49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63" name="Google Shape;163;p49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164" name="Google Shape;164;p49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65" name="Google Shape;165;p49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166" name="Google Shape;166;p49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167" name="Google Shape;167;p49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168" name="Google Shape;168;p49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169" name="Google Shape;169;p49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170" name="Google Shape;170;p49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171" name="Google Shape;171;p49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2" name="Google Shape;172;p49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3" name="Google Shape;173;p49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4" name="Google Shape;174;p49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175" name="Google Shape;175;p49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176" name="Google Shape;176;p49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177" name="Google Shape;177;p49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178" name="Google Shape;178;p49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179" name="Google Shape;179;p49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180" name="Google Shape;180;p49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49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2" name="Google Shape;182;p49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83" name="Google Shape;183;p49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184" name="Google Shape;184;p49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5" name="Google Shape;185;p49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6" name="Google Shape;186;p49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7" name="Google Shape;187;p49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88" name="Google Shape;188;p49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Шапка с логотипом без коня (белая)">
  <p:cSld name="1_Шапка с логотипом без коня (белая)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0"/>
          <p:cNvSpPr/>
          <p:nvPr/>
        </p:nvSpPr>
        <p:spPr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50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2549388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2" name="Google Shape;192;p50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50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4" name="Google Shape;194;p50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95" name="Google Shape;195;p50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96" name="Google Shape;196;p50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97" name="Google Shape;197;p50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98" name="Google Shape;198;p50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99" name="Google Shape;199;p50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200" name="Google Shape;200;p50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1" name="Google Shape;201;p50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202" name="Google Shape;202;p50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203" name="Google Shape;203;p50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204" name="Google Shape;204;p50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205" name="Google Shape;205;p50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206" name="Google Shape;206;p50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207" name="Google Shape;207;p50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8" name="Google Shape;208;p50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9" name="Google Shape;209;p50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10" name="Google Shape;210;p50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211" name="Google Shape;211;p50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212" name="Google Shape;212;p50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213" name="Google Shape;213;p50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214" name="Google Shape;214;p50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215" name="Google Shape;215;p50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216" name="Google Shape;216;p50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7" name="Google Shape;217;p50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8" name="Google Shape;218;p50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9" name="Google Shape;219;p50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220" name="Google Shape;220;p50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1" name="Google Shape;221;p50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2" name="Google Shape;222;p50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3" name="Google Shape;223;p50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24" name="Google Shape;224;p50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4">
  <p:cSld name="Фото 4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697730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4" name="Google Shape;514;p59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59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6" name="Google Shape;516;p59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7" name="Google Shape;517;p59"/>
          <p:cNvSpPr>
            <a:spLocks noGrp="1"/>
          </p:cNvSpPr>
          <p:nvPr>
            <p:ph type="pic" idx="3"/>
          </p:nvPr>
        </p:nvSpPr>
        <p:spPr>
          <a:xfrm>
            <a:off x="8947150" y="1"/>
            <a:ext cx="3244850" cy="68531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9">
  <p:cSld name="Фото 9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4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2" name="Google Shape;642;p6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64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4" name="Google Shape;644;p64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5" name="Google Shape;645;p64"/>
          <p:cNvSpPr>
            <a:spLocks noGrp="1"/>
          </p:cNvSpPr>
          <p:nvPr>
            <p:ph type="pic" idx="3"/>
          </p:nvPr>
        </p:nvSpPr>
        <p:spPr>
          <a:xfrm>
            <a:off x="568201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6" name="Google Shape;646;p64"/>
          <p:cNvSpPr>
            <a:spLocks noGrp="1"/>
          </p:cNvSpPr>
          <p:nvPr>
            <p:ph type="pic" idx="4"/>
          </p:nvPr>
        </p:nvSpPr>
        <p:spPr>
          <a:xfrm>
            <a:off x="3415392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64"/>
          <p:cNvSpPr>
            <a:spLocks noGrp="1"/>
          </p:cNvSpPr>
          <p:nvPr>
            <p:ph type="pic" idx="5"/>
          </p:nvPr>
        </p:nvSpPr>
        <p:spPr>
          <a:xfrm>
            <a:off x="6250056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64"/>
          <p:cNvSpPr>
            <a:spLocks noGrp="1"/>
          </p:cNvSpPr>
          <p:nvPr>
            <p:ph type="pic" idx="6"/>
          </p:nvPr>
        </p:nvSpPr>
        <p:spPr>
          <a:xfrm>
            <a:off x="9116455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9" name="Google Shape;649;p64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650" name="Google Shape;650;p64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651" name="Google Shape;651;p64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652" name="Google Shape;652;p64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653" name="Google Shape;653;p64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654" name="Google Shape;654;p64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55" name="Google Shape;655;p64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656" name="Google Shape;656;p64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657" name="Google Shape;657;p64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658" name="Google Shape;658;p64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659" name="Google Shape;659;p64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660" name="Google Shape;660;p64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661" name="Google Shape;661;p64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2" name="Google Shape;662;p64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3" name="Google Shape;663;p64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4" name="Google Shape;664;p64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665" name="Google Shape;665;p64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666" name="Google Shape;666;p64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667" name="Google Shape;667;p64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68" name="Google Shape;668;p64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669" name="Google Shape;669;p64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670" name="Google Shape;670;p64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1" name="Google Shape;671;p64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2" name="Google Shape;672;p64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673" name="Google Shape;673;p64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674" name="Google Shape;674;p64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6" name="Google Shape;676;p64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7" name="Google Shape;677;p64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678" name="Google Shape;678;p64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атомом">
  <p:cSld name="Шапка с атомом"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74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55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4" name="Google Shape;994;p74"/>
          <p:cNvPicPr preferRelativeResize="0"/>
          <p:nvPr/>
        </p:nvPicPr>
        <p:blipFill rotWithShape="1">
          <a:blip r:embed="rId2">
            <a:alphaModFix/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4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6" name="Google Shape;996;p74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97" name="Google Shape;997;p74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фон">
  <p:cSld name="Фото фон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5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0" name="Google Shape;1000;p7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63" r:id="rId4"/>
    <p:sldLayoutId id="2147483668" r:id="rId5"/>
    <p:sldLayoutId id="2147483678" r:id="rId6"/>
    <p:sldLayoutId id="214748367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"/>
          <p:cNvSpPr txBox="1">
            <a:spLocks noGrp="1"/>
          </p:cNvSpPr>
          <p:nvPr>
            <p:ph type="body" idx="1"/>
          </p:nvPr>
        </p:nvSpPr>
        <p:spPr>
          <a:xfrm>
            <a:off x="560194" y="5233399"/>
            <a:ext cx="7349686" cy="1355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80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800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80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2"/>
          <p:cNvSpPr txBox="1">
            <a:spLocks noGrp="1"/>
          </p:cNvSpPr>
          <p:nvPr>
            <p:ph type="body" idx="2"/>
          </p:nvPr>
        </p:nvSpPr>
        <p:spPr>
          <a:xfrm>
            <a:off x="560193" y="3890246"/>
            <a:ext cx="614753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 dirty="0"/>
              <a:t>Объект и предмет исследования</a:t>
            </a:r>
          </a:p>
        </p:txBody>
      </p:sp>
      <p:sp>
        <p:nvSpPr>
          <p:cNvPr id="1016" name="Google Shape;1016;p2"/>
          <p:cNvSpPr txBox="1">
            <a:spLocks noGrp="1"/>
          </p:cNvSpPr>
          <p:nvPr>
            <p:ph type="body" idx="3"/>
          </p:nvPr>
        </p:nvSpPr>
        <p:spPr>
          <a:xfrm>
            <a:off x="560195" y="3105834"/>
            <a:ext cx="55358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ru-RU" dirty="0"/>
              <a:t>НИР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6"/>
          <p:cNvPicPr preferRelativeResize="0"/>
          <p:nvPr/>
        </p:nvPicPr>
        <p:blipFill rotWithShape="1">
          <a:blip r:embed="rId3">
            <a:alphaModFix amt="45000"/>
          </a:blip>
          <a:srcRect l="38538" b="28686"/>
          <a:stretch/>
        </p:blipFill>
        <p:spPr>
          <a:xfrm>
            <a:off x="0" y="2683359"/>
            <a:ext cx="3424263" cy="4174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6"/>
          <p:cNvSpPr txBox="1"/>
          <p:nvPr/>
        </p:nvSpPr>
        <p:spPr>
          <a:xfrm>
            <a:off x="3548552" y="759532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6"/>
          <p:cNvSpPr txBox="1"/>
          <p:nvPr/>
        </p:nvSpPr>
        <p:spPr>
          <a:xfrm>
            <a:off x="4362208" y="1190812"/>
            <a:ext cx="48968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Объект и предмет: определяем границы исследования</a:t>
            </a:r>
            <a:endParaRPr lang="ru-RU" dirty="0"/>
          </a:p>
        </p:txBody>
      </p:sp>
      <p:sp>
        <p:nvSpPr>
          <p:cNvPr id="1063" name="Google Shape;1063;p6"/>
          <p:cNvSpPr txBox="1"/>
          <p:nvPr/>
        </p:nvSpPr>
        <p:spPr>
          <a:xfrm>
            <a:off x="3548552" y="1494445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6"/>
          <p:cNvSpPr txBox="1"/>
          <p:nvPr/>
        </p:nvSpPr>
        <p:spPr>
          <a:xfrm>
            <a:off x="4362208" y="1925725"/>
            <a:ext cx="48968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Формулируем объект и предмет из уже собранного исследовательского замысла</a:t>
            </a:r>
            <a:endParaRPr lang="ru-RU" dirty="0"/>
          </a:p>
        </p:txBody>
      </p:sp>
      <p:sp>
        <p:nvSpPr>
          <p:cNvPr id="1065" name="Google Shape;1065;p6"/>
          <p:cNvSpPr txBox="1"/>
          <p:nvPr/>
        </p:nvSpPr>
        <p:spPr>
          <a:xfrm>
            <a:off x="3548552" y="2229358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066" name="Google Shape;1066;p6"/>
          <p:cNvSpPr txBox="1"/>
          <p:nvPr/>
        </p:nvSpPr>
        <p:spPr>
          <a:xfrm>
            <a:off x="4362208" y="2660638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Что именно вы разрабатываете</a:t>
            </a:r>
            <a:endParaRPr lang="ru-RU" dirty="0"/>
          </a:p>
        </p:txBody>
      </p:sp>
      <p:sp>
        <p:nvSpPr>
          <p:cNvPr id="1067" name="Google Shape;1067;p6"/>
          <p:cNvSpPr txBox="1"/>
          <p:nvPr/>
        </p:nvSpPr>
        <p:spPr>
          <a:xfrm>
            <a:off x="3548552" y="2964271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1068" name="Google Shape;1068;p6"/>
          <p:cNvSpPr txBox="1"/>
          <p:nvPr/>
        </p:nvSpPr>
        <p:spPr>
          <a:xfrm>
            <a:off x="4362208" y="3395551"/>
            <a:ext cx="48968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Типичные ошибки при формулировке объекта и предмета</a:t>
            </a:r>
            <a:endParaRPr lang="ru-RU" dirty="0"/>
          </a:p>
        </p:txBody>
      </p:sp>
      <p:sp>
        <p:nvSpPr>
          <p:cNvPr id="1075" name="Google Shape;1075;p6"/>
          <p:cNvSpPr txBox="1"/>
          <p:nvPr/>
        </p:nvSpPr>
        <p:spPr>
          <a:xfrm>
            <a:off x="559572" y="359101"/>
            <a:ext cx="30667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01. Объект и предмет: определяем границы исследования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Объект и предмет</a:t>
            </a:r>
            <a:endParaRPr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DD77B29B-5905-470C-960F-BE5CA56060BE}"/>
              </a:ext>
            </a:extLst>
          </p:cNvPr>
          <p:cNvSpPr/>
          <p:nvPr/>
        </p:nvSpPr>
        <p:spPr>
          <a:xfrm>
            <a:off x="2979793" y="1099838"/>
            <a:ext cx="5532760" cy="5134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Объект</a:t>
            </a:r>
            <a:r>
              <a:rPr lang="ru-RU" dirty="0"/>
              <a:t> показывает, где существует исследуемая проблема. 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B8C668E1-A602-4B84-B8EF-A0F12E687893}"/>
              </a:ext>
            </a:extLst>
          </p:cNvPr>
          <p:cNvSpPr/>
          <p:nvPr/>
        </p:nvSpPr>
        <p:spPr>
          <a:xfrm>
            <a:off x="4106007" y="2876308"/>
            <a:ext cx="3202798" cy="305091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Предмет </a:t>
            </a:r>
            <a:r>
              <a:rPr lang="ru-RU" dirty="0"/>
              <a:t>показывает, что именно внутри этого объекта вы будете анализировать, сравнивать, изменять или проверять.</a:t>
            </a:r>
          </a:p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Пример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Тема: </a:t>
            </a:r>
            <a:r>
              <a:rPr lang="ru-RU" dirty="0"/>
              <a:t>Сравнительная оценка методов обнаружения фишинговых сообщений, сгенерированных большими языковыми моделями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Объект: </a:t>
            </a:r>
            <a:r>
              <a:rPr lang="ru-RU" dirty="0"/>
              <a:t>процесс обнаружения фишинговых сообщений в электронной коммуникации.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Предмет: </a:t>
            </a:r>
            <a:r>
              <a:rPr lang="ru-RU" dirty="0"/>
              <a:t>методы обнаружения фишинговых сообщений, сгенерированных большими языковыми моделями, и показатели их качества в условиях экспериментального сравнения.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086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02. Формулируем объект и предмет из уже собранного исследовательского замысла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53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Формулируем объект и предмет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EDBEC0A7-475F-4FC9-BFD5-D31CFDA8E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839378"/>
              </p:ext>
            </p:extLst>
          </p:nvPr>
        </p:nvGraphicFramePr>
        <p:xfrm>
          <a:off x="806643" y="1074260"/>
          <a:ext cx="10492270" cy="5332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454">
                  <a:extLst>
                    <a:ext uri="{9D8B030D-6E8A-4147-A177-3AD203B41FA5}">
                      <a16:colId xmlns:a16="http://schemas.microsoft.com/office/drawing/2014/main" val="3376826864"/>
                    </a:ext>
                  </a:extLst>
                </a:gridCol>
                <a:gridCol w="2098454">
                  <a:extLst>
                    <a:ext uri="{9D8B030D-6E8A-4147-A177-3AD203B41FA5}">
                      <a16:colId xmlns:a16="http://schemas.microsoft.com/office/drawing/2014/main" val="2752660726"/>
                    </a:ext>
                  </a:extLst>
                </a:gridCol>
                <a:gridCol w="2098454">
                  <a:extLst>
                    <a:ext uri="{9D8B030D-6E8A-4147-A177-3AD203B41FA5}">
                      <a16:colId xmlns:a16="http://schemas.microsoft.com/office/drawing/2014/main" val="4162940977"/>
                    </a:ext>
                  </a:extLst>
                </a:gridCol>
                <a:gridCol w="2098454">
                  <a:extLst>
                    <a:ext uri="{9D8B030D-6E8A-4147-A177-3AD203B41FA5}">
                      <a16:colId xmlns:a16="http://schemas.microsoft.com/office/drawing/2014/main" val="3871772240"/>
                    </a:ext>
                  </a:extLst>
                </a:gridCol>
                <a:gridCol w="2098454">
                  <a:extLst>
                    <a:ext uri="{9D8B030D-6E8A-4147-A177-3AD203B41FA5}">
                      <a16:colId xmlns:a16="http://schemas.microsoft.com/office/drawing/2014/main" val="4060180002"/>
                    </a:ext>
                  </a:extLst>
                </a:gridCol>
              </a:tblGrid>
              <a:tr h="39637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30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Тема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Проблемный фокус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Цель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300"/>
                        </a:spcAft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30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5106910"/>
                  </a:ext>
                </a:extLst>
              </a:tr>
              <a:tr h="153203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устойчивости модели прогнозирования оттока пользователей при изменении распределения данных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модели может снижаться после изменения данных, а сигнал дрейфа не всегда совпадает с реальной деградацией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Сравнить методы обнаружения дрейфа и определить, какие из них надежнее сигнализируют о снижении качества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Процесс эксплуатации модели прогнозирования оттока пользователей на изменяющихся данных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Методы обнаружения дрейфа данных и связь их сигналов с изменением качества модели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5122885"/>
                  </a:ext>
                </a:extLst>
              </a:tr>
              <a:tr h="153203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Сравнительная оценка политик запуска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SAST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в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CI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CD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-конвейере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Строгие проверки повышают вероятность выявления дефектов, но могут увеличивать время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pipeline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число ложных блокировок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Сравнить политики запуска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SAST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по критериям безопасности и влияния на процесс разработки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Процесс автоматизированного контроля качества и безопасности кода в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CI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CD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Политики запуска статического анализа и их влияние на выявление дефектов, ложные срабатывания и длительность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pipeline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3816525"/>
                  </a:ext>
                </a:extLst>
              </a:tr>
              <a:tr h="187248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веб-приложения для отслеживания и анализа циклов эмоционального состояния партнеров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Повторяющиеся изменения состояния могут интерпретироваться партнерами ситуативно и несистемно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Разработать и апробировать способ фиксации и визуализации изменений состояния и оценить его воспринимаемую полезность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Процесс фиксации и интерпретации самооцененного эмоционального состояния партнеров в повседневной коммуникации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Способ отслеживания и визуализации изменений состояния в веб-приложении и его воспринимаемая полезность для интерпретации повторяющихся паттернов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6032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010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Представим так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Объект </a:t>
            </a:r>
            <a:r>
              <a:rPr lang="ru-RU" dirty="0"/>
              <a:t>= процесс / система / класс объектов, в которых существует проблема.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Предмет</a:t>
            </a:r>
            <a:r>
              <a:rPr lang="ru-RU" dirty="0"/>
              <a:t> = конкретное свойство / метод / механизм / отношение внутри объекта, с которым работает цель исследования.</a:t>
            </a:r>
          </a:p>
        </p:txBody>
      </p:sp>
      <p:pic>
        <p:nvPicPr>
          <p:cNvPr id="1028" name="Picture 4" descr="Объект исследования - это... Определение, примеры :: BusinessMan.ru">
            <a:extLst>
              <a:ext uri="{FF2B5EF4-FFF2-40B4-BE49-F238E27FC236}">
                <a16:creationId xmlns:a16="http://schemas.microsoft.com/office/drawing/2014/main" id="{9F18A602-C77F-45E5-ADB1-49F3B6272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748" y="1432714"/>
            <a:ext cx="601980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82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411355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03. Что именно вы разрабатываете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7667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Что вы разрабатываете</a:t>
            </a:r>
            <a:endParaRPr dirty="0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AB567832-81B8-4270-BF79-71CB990F9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624881"/>
              </p:ext>
            </p:extLst>
          </p:nvPr>
        </p:nvGraphicFramePr>
        <p:xfrm>
          <a:off x="684201" y="978344"/>
          <a:ext cx="10774574" cy="524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3803">
                  <a:extLst>
                    <a:ext uri="{9D8B030D-6E8A-4147-A177-3AD203B41FA5}">
                      <a16:colId xmlns:a16="http://schemas.microsoft.com/office/drawing/2014/main" val="1538117546"/>
                    </a:ext>
                  </a:extLst>
                </a:gridCol>
                <a:gridCol w="3593803">
                  <a:extLst>
                    <a:ext uri="{9D8B030D-6E8A-4147-A177-3AD203B41FA5}">
                      <a16:colId xmlns:a16="http://schemas.microsoft.com/office/drawing/2014/main" val="2673848210"/>
                    </a:ext>
                  </a:extLst>
                </a:gridCol>
                <a:gridCol w="3586968">
                  <a:extLst>
                    <a:ext uri="{9D8B030D-6E8A-4147-A177-3AD203B41FA5}">
                      <a16:colId xmlns:a16="http://schemas.microsoft.com/office/drawing/2014/main" val="1044277903"/>
                    </a:ext>
                  </a:extLst>
                </a:gridCol>
              </a:tblGrid>
              <a:tr h="31817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Термин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 в контексте ВКР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Особенности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2978493"/>
                  </a:ext>
                </a:extLst>
              </a:tr>
              <a:tr h="1909021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Методология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 принципов, оснований и подходов, определяющая, как ставится и решается целый класс задач и почему выбираются определенные методы.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 просто последовательность действий, а обоснованная рамка: принципы, критерии выбора методов, границы применимости и логика их сочетания. Для магистерской ВКР формулировка «разработка методологии» обычно требует особенно сильного обоснования.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258439"/>
                  </a:ext>
                </a:extLst>
              </a:tr>
              <a:tr h="159085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Общий способ решения определенного класса задач или получения результата.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 принципа работы метода, условий применения, входных данных, результата и способа проверки.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Например, метод ранжирования событий безопасности по совокупности признаков риска.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0471045"/>
                  </a:ext>
                </a:extLst>
              </a:tr>
              <a:tr h="143176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Методика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Конкретизированный и воспроизводимый порядок применения одного или нескольких методов в заданных условиях.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Последовательность этапов, используемые данные и инструменты, правила принятия решений, критерии оценки и условия применения.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Другой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специалист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должен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суметь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повторить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процедуру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790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865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Что вы разрабатываете</a:t>
            </a:r>
            <a:endParaRPr dirty="0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AB567832-81B8-4270-BF79-71CB990F9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919105"/>
              </p:ext>
            </p:extLst>
          </p:nvPr>
        </p:nvGraphicFramePr>
        <p:xfrm>
          <a:off x="684201" y="978344"/>
          <a:ext cx="10774574" cy="524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3803">
                  <a:extLst>
                    <a:ext uri="{9D8B030D-6E8A-4147-A177-3AD203B41FA5}">
                      <a16:colId xmlns:a16="http://schemas.microsoft.com/office/drawing/2014/main" val="1538117546"/>
                    </a:ext>
                  </a:extLst>
                </a:gridCol>
                <a:gridCol w="3593803">
                  <a:extLst>
                    <a:ext uri="{9D8B030D-6E8A-4147-A177-3AD203B41FA5}">
                      <a16:colId xmlns:a16="http://schemas.microsoft.com/office/drawing/2014/main" val="2673848210"/>
                    </a:ext>
                  </a:extLst>
                </a:gridCol>
                <a:gridCol w="3586968">
                  <a:extLst>
                    <a:ext uri="{9D8B030D-6E8A-4147-A177-3AD203B41FA5}">
                      <a16:colId xmlns:a16="http://schemas.microsoft.com/office/drawing/2014/main" val="1044277903"/>
                    </a:ext>
                  </a:extLst>
                </a:gridCol>
              </a:tblGrid>
              <a:tr h="31817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Термин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 в контексте ВКР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Особенности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2978493"/>
                  </a:ext>
                </a:extLst>
              </a:tr>
              <a:tr h="1909021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Техника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прием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Отдельная операция или узкий способ выполнения части метода или методики.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технических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областях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слово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«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техника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»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может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быть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неоднозначным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Конкретный прием, встроенный в более широкую процедуру. Например, техника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few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shot prompting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внутри методики формирования запросов. Если слово не является устойчивым термином вашей области, лучше не выносить его в название ВКР.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258439"/>
                  </a:ext>
                </a:extLst>
              </a:tr>
              <a:tr h="159085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Алгоритм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Формально заданная последовательность правил или операций, преобразующая входные данные в результат.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Определенные входы и выходы, порядок или правила обработки, условия ветвления/остановки и возможность воспроизведения.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Код является реализацией алгоритма, но не самим алгоритмом.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0471045"/>
                  </a:ext>
                </a:extLst>
              </a:tr>
              <a:tr h="143176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Упрощенное формальное, вычислительное или концептуальное представление объекта, процесса или связи между параметрами.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Структура модели, параметры или связи, способ построения и обязательная проверка адекватности или качества. Это может быть математическая модель,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ML</a:t>
                      </a: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-модель, имитационная или концептуальная модель.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790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707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Примеры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420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15900" marR="125730">
              <a:spcBef>
                <a:spcPts val="200"/>
              </a:spcBef>
              <a:spcAft>
                <a:spcPts val="4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Тема: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«Разработка методики сравнительной оценки систем обнаружения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-сгенерированного фишинга».</a:t>
            </a:r>
            <a:b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marR="125730">
              <a:spcBef>
                <a:spcPts val="200"/>
              </a:spcBef>
              <a:spcAft>
                <a:spcPts val="4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Объект: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процесс оценки качества систем обнаружения фишинговых сообщений.</a:t>
            </a:r>
            <a:b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marR="125730">
              <a:spcBef>
                <a:spcPts val="200"/>
              </a:spcBef>
              <a:spcAft>
                <a:spcPts val="4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Предмет: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процедура формирования тестовой выборки, набор критериев и порядок сравнительной оценки. В результате ожидается воспроизводимая методика, а не новая модель классификации.</a:t>
            </a:r>
          </a:p>
        </p:txBody>
      </p:sp>
      <p:sp>
        <p:nvSpPr>
          <p:cNvPr id="7" name="Google Shape;1127;p13">
            <a:extLst>
              <a:ext uri="{FF2B5EF4-FFF2-40B4-BE49-F238E27FC236}">
                <a16:creationId xmlns:a16="http://schemas.microsoft.com/office/drawing/2014/main" id="{8E69A885-DD3E-43AC-911F-8EED3FC0C78E}"/>
              </a:ext>
            </a:extLst>
          </p:cNvPr>
          <p:cNvSpPr txBox="1">
            <a:spLocks/>
          </p:cNvSpPr>
          <p:nvPr/>
        </p:nvSpPr>
        <p:spPr>
          <a:xfrm>
            <a:off x="5961010" y="2025368"/>
            <a:ext cx="4581530" cy="447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15900" marR="125730">
              <a:spcBef>
                <a:spcPts val="200"/>
              </a:spcBef>
              <a:spcAft>
                <a:spcPts val="4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Тема: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«Разработка модели оценки риска деградации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-сервиса при дрейфе данных». </a:t>
            </a:r>
            <a:b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marR="125730">
              <a:spcBef>
                <a:spcPts val="200"/>
              </a:spcBef>
              <a:spcAft>
                <a:spcPts val="4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Объект: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процесс эксплуатации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-сервиса на изменяющихся данных.</a:t>
            </a:r>
            <a:b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marR="125730">
              <a:spcBef>
                <a:spcPts val="200"/>
              </a:spcBef>
              <a:spcAft>
                <a:spcPts val="4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Предмет: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связь характеристик дрейфа и показателей качества модели, формализованная в модели риска. В работе потребуется не только построить модель, но и проверить, насколько ее оценки соответствуют наблюдаемой деградации.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5E74FF7-1A3A-47D4-A38D-11AC8EDFFC53}"/>
              </a:ext>
            </a:extLst>
          </p:cNvPr>
          <p:cNvCxnSpPr>
            <a:cxnSpLocks/>
          </p:cNvCxnSpPr>
          <p:nvPr/>
        </p:nvCxnSpPr>
        <p:spPr>
          <a:xfrm>
            <a:off x="5435245" y="1837744"/>
            <a:ext cx="0" cy="485335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852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04. Типичные ошибки при формулировке объекта и предмета</a:t>
            </a:r>
          </a:p>
        </p:txBody>
      </p:sp>
    </p:spTree>
    <p:extLst>
      <p:ext uri="{BB962C8B-B14F-4D97-AF65-F5344CB8AC3E}">
        <p14:creationId xmlns:p14="http://schemas.microsoft.com/office/powerpoint/2010/main" val="248655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Типичные ошибки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70FF63B0-7BB2-45B1-8DC0-33355AA7D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187250"/>
              </p:ext>
            </p:extLst>
          </p:nvPr>
        </p:nvGraphicFramePr>
        <p:xfrm>
          <a:off x="741752" y="1023105"/>
          <a:ext cx="10563558" cy="5288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1186">
                  <a:extLst>
                    <a:ext uri="{9D8B030D-6E8A-4147-A177-3AD203B41FA5}">
                      <a16:colId xmlns:a16="http://schemas.microsoft.com/office/drawing/2014/main" val="535329844"/>
                    </a:ext>
                  </a:extLst>
                </a:gridCol>
                <a:gridCol w="3521186">
                  <a:extLst>
                    <a:ext uri="{9D8B030D-6E8A-4147-A177-3AD203B41FA5}">
                      <a16:colId xmlns:a16="http://schemas.microsoft.com/office/drawing/2014/main" val="1941048568"/>
                    </a:ext>
                  </a:extLst>
                </a:gridCol>
                <a:gridCol w="3521186">
                  <a:extLst>
                    <a:ext uri="{9D8B030D-6E8A-4147-A177-3AD203B41FA5}">
                      <a16:colId xmlns:a16="http://schemas.microsoft.com/office/drawing/2014/main" val="424986076"/>
                    </a:ext>
                  </a:extLst>
                </a:gridCol>
              </a:tblGrid>
              <a:tr h="551481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Неудачная формулировка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Как исправить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2723539"/>
                  </a:ext>
                </a:extLst>
              </a:tr>
              <a:tr h="165784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 и предмет совпадают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Объект: фишинговые сообщения. Предмет: фишинговые сообщения.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Развести поле и фокус. Объект: процесс обнаружения фишинговых сообщений. Предмет: методы обнаружения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LLM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-сгенерированных фишинговых сообщений и показатели их качества.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9518933"/>
                  </a:ext>
                </a:extLst>
              </a:tr>
              <a:tr h="142100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 остается названием отрасли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Объект: искусственный интеллект / кибербезопасность /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DevSecOps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Назвать конкретную систему или процесс, в котором существует проблема: эксплуатация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ML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-модели на изменяющихся данных; автоматизированный контроль кода в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CI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CD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5575025"/>
                  </a:ext>
                </a:extLst>
              </a:tr>
              <a:tr h="165784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Будущий продукт объявлен объектом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Объект: разрабатываемое веб-приложение для пары.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Если приложение создается как результат, объектом сделать исходный процесс: фиксацию и интерпретацию изменений эмоционального состояния.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Приложение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остается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средством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реализации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проверки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4555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248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Типичные ошибки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70FF63B0-7BB2-45B1-8DC0-33355AA7D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30719"/>
              </p:ext>
            </p:extLst>
          </p:nvPr>
        </p:nvGraphicFramePr>
        <p:xfrm>
          <a:off x="741752" y="1023106"/>
          <a:ext cx="10742601" cy="5533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867">
                  <a:extLst>
                    <a:ext uri="{9D8B030D-6E8A-4147-A177-3AD203B41FA5}">
                      <a16:colId xmlns:a16="http://schemas.microsoft.com/office/drawing/2014/main" val="535329844"/>
                    </a:ext>
                  </a:extLst>
                </a:gridCol>
                <a:gridCol w="3580867">
                  <a:extLst>
                    <a:ext uri="{9D8B030D-6E8A-4147-A177-3AD203B41FA5}">
                      <a16:colId xmlns:a16="http://schemas.microsoft.com/office/drawing/2014/main" val="1941048568"/>
                    </a:ext>
                  </a:extLst>
                </a:gridCol>
                <a:gridCol w="3580867">
                  <a:extLst>
                    <a:ext uri="{9D8B030D-6E8A-4147-A177-3AD203B41FA5}">
                      <a16:colId xmlns:a16="http://schemas.microsoft.com/office/drawing/2014/main" val="424986076"/>
                    </a:ext>
                  </a:extLst>
                </a:gridCol>
              </a:tblGrid>
              <a:tr h="410673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Неудачная формулировка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Как исправить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2723539"/>
                  </a:ext>
                </a:extLst>
              </a:tr>
              <a:tr h="123455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 подменяет предмет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Предмет: Python, TensorFlow, GPT, GitLab.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Назвать то, что исследуется с помощью инструмента: качество классификации, правила приоритизации, способ ранжирования документов, влияние политики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SAST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на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pipeline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9518933"/>
                  </a:ext>
                </a:extLst>
              </a:tr>
              <a:tr h="136147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 теме заявлена методология, а создается инструкция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«Разработка методологии настройки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SAST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», результат — чек-лист из 7 шагов.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Скорее всего, корректнее «разработка методики настройки и оценки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SAST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». Слово «методология» оставлять только при наличии системы принципов и правил выбора подходов для класса ситуаций.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5575025"/>
                  </a:ext>
                </a:extLst>
              </a:tr>
              <a:tr h="123455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 теме заявлена модель, но результат — схема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«Модель процесса обработки инцидента», результат — блок-схема текущего процесса.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Либо назвать результат схемой/описанием процесса, либо определить элементы, связи и способ применения модели и проверить ее пригодность для анализа или прогноза.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4555215"/>
                  </a:ext>
                </a:extLst>
              </a:tr>
              <a:tr h="123455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 не соответствует цели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Цель: оценить устойчивость модели к дрейфу. Предмет: архитектура интерфейса системы мониторинга.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3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Вернуть предмет к исследовательской проблеме: методы обнаружения дрейфа и связь их сигналов с деградацией качества модели.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1906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933427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1128</Words>
  <Application>Microsoft Office PowerPoint</Application>
  <PresentationFormat>Широкоэкранный</PresentationFormat>
  <Paragraphs>137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Montserrat</vt:lpstr>
      <vt:lpstr>Calibri</vt:lpstr>
      <vt:lpstr>Шаблон МИФИ</vt:lpstr>
      <vt:lpstr>Презентация PowerPoint</vt:lpstr>
      <vt:lpstr>Презентация PowerPoint</vt:lpstr>
      <vt:lpstr>01. Объект и предмет: определяем границы исследования</vt:lpstr>
      <vt:lpstr>Объект и предмет</vt:lpstr>
      <vt:lpstr>Пример</vt:lpstr>
      <vt:lpstr>02. Формулируем объект и предмет из уже собранного исследовательского замысла </vt:lpstr>
      <vt:lpstr>Формулируем объект и предмет</vt:lpstr>
      <vt:lpstr>Представим так</vt:lpstr>
      <vt:lpstr>03. Что именно вы разрабатываете </vt:lpstr>
      <vt:lpstr>Что вы разрабатываете</vt:lpstr>
      <vt:lpstr>Что вы разрабатываете</vt:lpstr>
      <vt:lpstr>Примеры</vt:lpstr>
      <vt:lpstr>04. Типичные ошибки при формулировке объекта и предмета</vt:lpstr>
      <vt:lpstr>Типичные ошибки</vt:lpstr>
      <vt:lpstr>Типичные ошибки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Константин Некрасов</cp:lastModifiedBy>
  <cp:revision>112</cp:revision>
  <dcterms:created xsi:type="dcterms:W3CDTF">2020-05-28T16:18:16Z</dcterms:created>
  <dcterms:modified xsi:type="dcterms:W3CDTF">2026-10-13T08:07:47Z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